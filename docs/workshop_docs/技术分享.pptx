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handoutMasterIdLst>
    <p:handoutMasterId r:id="rId19"/>
  </p:handoutMasterIdLst>
  <p:sldIdLst>
    <p:sldId id="256" r:id="rId3"/>
    <p:sldId id="300" r:id="rId4"/>
    <p:sldId id="257" r:id="rId5"/>
    <p:sldId id="258" r:id="rId6"/>
    <p:sldId id="261" r:id="rId7"/>
    <p:sldId id="303" r:id="rId9"/>
    <p:sldId id="277" r:id="rId10"/>
    <p:sldId id="304" r:id="rId11"/>
    <p:sldId id="309" r:id="rId12"/>
    <p:sldId id="306" r:id="rId13"/>
    <p:sldId id="311" r:id="rId14"/>
    <p:sldId id="278" r:id="rId15"/>
    <p:sldId id="298" r:id="rId16"/>
    <p:sldId id="299" r:id="rId17"/>
    <p:sldId id="275" r:id="rId18"/>
  </p:sldIdLst>
  <p:sldSz cx="12192000" cy="6858000"/>
  <p:notesSz cx="6858000" cy="9144000"/>
  <p:embeddedFontLst>
    <p:embeddedFont>
      <p:font typeface="微软雅黑" panose="020B0503020204020204" charset="-122"/>
      <p:regular r:id="rId23"/>
      <p:bold r:id="rId24"/>
    </p:embeddedFont>
    <p:embeddedFont>
      <p:font typeface="MiSans Heavy" panose="00000A00000000000000" charset="-122"/>
      <p:bold r:id="rId25"/>
    </p:embeddedFont>
  </p:embeddedFontLst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7092" userDrawn="1">
          <p15:clr>
            <a:srgbClr val="A4A3A4"/>
          </p15:clr>
        </p15:guide>
        <p15:guide id="3" pos="614" userDrawn="1">
          <p15:clr>
            <a:srgbClr val="A4A3A4"/>
          </p15:clr>
        </p15:guide>
        <p15:guide id="4" orient="horz" pos="1236" userDrawn="1">
          <p15:clr>
            <a:srgbClr val="A4A3A4"/>
          </p15:clr>
        </p15:guide>
        <p15:guide id="5" orient="horz" pos="37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75"/>
    <a:srgbClr val="666666"/>
    <a:srgbClr val="E4F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776" y="744"/>
      </p:cViewPr>
      <p:guideLst>
        <p:guide pos="3840"/>
        <p:guide pos="7092"/>
        <p:guide pos="614"/>
        <p:guide orient="horz" pos="1236"/>
        <p:guide orient="horz" pos="37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9.xml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Light" panose="020B0300000000000000" charset="-122"/>
              <a:ea typeface="思源宋体 CN Light" panose="020203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Light" panose="020B0300000000000000" charset="-122"/>
              </a:rPr>
            </a:fld>
            <a:endParaRPr lang="zh-CN" altLang="en-US">
              <a:latin typeface="思源黑体 CN Light" panose="020B03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Light" panose="020B0300000000000000" charset="-122"/>
              <a:ea typeface="思源宋体 CN Light" panose="020203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Light" panose="020B0300000000000000" charset="-122"/>
              </a:rPr>
            </a:fld>
            <a:endParaRPr lang="zh-CN" altLang="en-US">
              <a:latin typeface="思源黑体 CN Light" panose="020B03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Light" panose="020B0300000000000000" charset="-122"/>
                <a:ea typeface="思源宋体 CN Light" panose="020203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Light" panose="020B0300000000000000" charset="-122"/>
                <a:ea typeface="思源宋体 CN Light" panose="020203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Light" panose="020B0300000000000000" charset="-122"/>
                <a:ea typeface="思源宋体 CN Light" panose="020203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Light" panose="020B0300000000000000" charset="-122"/>
                <a:ea typeface="思源宋体 CN Light" panose="020203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宋体 CN Light" panose="020203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宋体 CN Light" panose="020203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宋体 CN Light" panose="020203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宋体 CN Light" panose="020203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Light" panose="020B0300000000000000" charset="-122"/>
        <a:ea typeface="思源宋体 CN Light" panose="020203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Light" panose="020B0300000000000000" charset="-122"/>
              </a:defRPr>
            </a:lvl1pPr>
          </a:lstStyle>
          <a:p>
            <a:fld id="{D63FF544-139D-4168-A8DF-C6DB875200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Light" panose="020B03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Light" panose="020B0300000000000000" charset="-122"/>
              </a:defRPr>
            </a:lvl1pPr>
          </a:lstStyle>
          <a:p>
            <a:fld id="{FDC8DC9A-8110-47F2-89E8-5C795EE1B3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Light" panose="020B030000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Light" panose="020B030000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Light" panose="020B030000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Light" panose="020B030000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Light" panose="020B03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microsoft.com/office/2007/relationships/hdphoto" Target="../media/image2.wdp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27100" y="1673860"/>
            <a:ext cx="7176135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动作捕捉与复刻</a:t>
            </a:r>
            <a:r>
              <a:rPr lang="zh-CN" altLang="en-US" sz="44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4400" b="1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4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项目复现分享会</a:t>
            </a:r>
            <a:endParaRPr lang="zh-CN" altLang="en-US" sz="4400" b="1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08505" y="3357563"/>
            <a:ext cx="5395608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30000"/>
              </a:lnSpc>
            </a:pPr>
            <a:r>
              <a:rPr lang="zh-CN" altLang="en-US" sz="2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人形机器人</a:t>
            </a:r>
            <a:r>
              <a:rPr lang="en-US" altLang="zh-CN" sz="2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运动重定向</a:t>
            </a:r>
            <a:r>
              <a:rPr lang="en-US" altLang="zh-CN" sz="2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计算机视觉方向</a:t>
            </a:r>
            <a:endParaRPr lang="zh-CN" altLang="en-US" sz="2000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603375" y="4448175"/>
            <a:ext cx="2435860" cy="50292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C4EFD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701832">
            <a:off x="5838494" y="1968179"/>
            <a:ext cx="1151297" cy="989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701832">
            <a:off x="974282" y="4862686"/>
            <a:ext cx="663425" cy="5702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701832">
            <a:off x="11575192" y="5553818"/>
            <a:ext cx="663425" cy="10384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082043" y="4539063"/>
            <a:ext cx="1318521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Xbotics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社区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630279" y="4539063"/>
            <a:ext cx="1318521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2026.08.30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乘号 17"/>
          <p:cNvSpPr/>
          <p:nvPr/>
        </p:nvSpPr>
        <p:spPr>
          <a:xfrm>
            <a:off x="2399368" y="4613686"/>
            <a:ext cx="230280" cy="230280"/>
          </a:xfrm>
          <a:prstGeom prst="mathMultiply">
            <a:avLst>
              <a:gd name="adj1" fmla="val 12895"/>
            </a:avLst>
          </a:prstGeom>
          <a:solidFill>
            <a:srgbClr val="00B0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30" name="任意多边形: 形状 29"/>
          <p:cNvSpPr/>
          <p:nvPr/>
        </p:nvSpPr>
        <p:spPr>
          <a:xfrm>
            <a:off x="7041777" y="1947581"/>
            <a:ext cx="5150223" cy="4910419"/>
          </a:xfrm>
          <a:custGeom>
            <a:avLst/>
            <a:gdLst>
              <a:gd name="connsiteX0" fmla="*/ 5150223 w 5150223"/>
              <a:gd name="connsiteY0" fmla="*/ 4761301 h 4910419"/>
              <a:gd name="connsiteX1" fmla="*/ 5150223 w 5150223"/>
              <a:gd name="connsiteY1" fmla="*/ 4910419 h 4910419"/>
              <a:gd name="connsiteX2" fmla="*/ 5025458 w 5150223"/>
              <a:gd name="connsiteY2" fmla="*/ 4910419 h 4910419"/>
              <a:gd name="connsiteX3" fmla="*/ 5100254 w 5150223"/>
              <a:gd name="connsiteY3" fmla="*/ 4828123 h 4910419"/>
              <a:gd name="connsiteX4" fmla="*/ 3551145 w 5150223"/>
              <a:gd name="connsiteY4" fmla="*/ 0 h 4910419"/>
              <a:gd name="connsiteX5" fmla="*/ 5090713 w 5150223"/>
              <a:gd name="connsiteY5" fmla="*/ 350182 h 4910419"/>
              <a:gd name="connsiteX6" fmla="*/ 5150223 w 5150223"/>
              <a:gd name="connsiteY6" fmla="*/ 380661 h 4910419"/>
              <a:gd name="connsiteX7" fmla="*/ 5150223 w 5150223"/>
              <a:gd name="connsiteY7" fmla="*/ 2340990 h 4910419"/>
              <a:gd name="connsiteX8" fmla="*/ 5100254 w 5150223"/>
              <a:gd name="connsiteY8" fmla="*/ 2274168 h 4910419"/>
              <a:gd name="connsiteX9" fmla="*/ 3551144 w 5150223"/>
              <a:gd name="connsiteY9" fmla="*/ 1543612 h 4910419"/>
              <a:gd name="connsiteX10" fmla="*/ 1543611 w 5150223"/>
              <a:gd name="connsiteY10" fmla="*/ 3551145 h 4910419"/>
              <a:gd name="connsiteX11" fmla="*/ 2002034 w 5150223"/>
              <a:gd name="connsiteY11" fmla="*/ 4828123 h 4910419"/>
              <a:gd name="connsiteX12" fmla="*/ 2076830 w 5150223"/>
              <a:gd name="connsiteY12" fmla="*/ 4910419 h 4910419"/>
              <a:gd name="connsiteX13" fmla="*/ 270652 w 5150223"/>
              <a:gd name="connsiteY13" fmla="*/ 4910419 h 4910419"/>
              <a:gd name="connsiteX14" fmla="*/ 159653 w 5150223"/>
              <a:gd name="connsiteY14" fmla="*/ 4607147 h 4910419"/>
              <a:gd name="connsiteX15" fmla="*/ 0 w 5150223"/>
              <a:gd name="connsiteY15" fmla="*/ 3551145 h 4910419"/>
              <a:gd name="connsiteX16" fmla="*/ 3551145 w 5150223"/>
              <a:gd name="connsiteY16" fmla="*/ 0 h 4910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50223" h="4910419">
                <a:moveTo>
                  <a:pt x="5150223" y="4761301"/>
                </a:moveTo>
                <a:lnTo>
                  <a:pt x="5150223" y="4910419"/>
                </a:lnTo>
                <a:lnTo>
                  <a:pt x="5025458" y="4910419"/>
                </a:lnTo>
                <a:lnTo>
                  <a:pt x="5100254" y="4828123"/>
                </a:lnTo>
                <a:close/>
                <a:moveTo>
                  <a:pt x="3551145" y="0"/>
                </a:moveTo>
                <a:cubicBezTo>
                  <a:pt x="4102745" y="0"/>
                  <a:pt x="4624971" y="125764"/>
                  <a:pt x="5090713" y="350182"/>
                </a:cubicBezTo>
                <a:lnTo>
                  <a:pt x="5150223" y="380661"/>
                </a:lnTo>
                <a:lnTo>
                  <a:pt x="5150223" y="2340990"/>
                </a:lnTo>
                <a:lnTo>
                  <a:pt x="5100254" y="2274168"/>
                </a:lnTo>
                <a:cubicBezTo>
                  <a:pt x="4732043" y="1827999"/>
                  <a:pt x="4174805" y="1543612"/>
                  <a:pt x="3551144" y="1543612"/>
                </a:cubicBezTo>
                <a:cubicBezTo>
                  <a:pt x="2442414" y="1543612"/>
                  <a:pt x="1543611" y="2442415"/>
                  <a:pt x="1543611" y="3551145"/>
                </a:cubicBezTo>
                <a:cubicBezTo>
                  <a:pt x="1543611" y="4036215"/>
                  <a:pt x="1715648" y="4481103"/>
                  <a:pt x="2002034" y="4828123"/>
                </a:cubicBezTo>
                <a:lnTo>
                  <a:pt x="2076830" y="4910419"/>
                </a:lnTo>
                <a:lnTo>
                  <a:pt x="270652" y="4910419"/>
                </a:lnTo>
                <a:lnTo>
                  <a:pt x="159653" y="4607147"/>
                </a:lnTo>
                <a:cubicBezTo>
                  <a:pt x="55895" y="4273556"/>
                  <a:pt x="0" y="3918878"/>
                  <a:pt x="0" y="3551145"/>
                </a:cubicBezTo>
                <a:cubicBezTo>
                  <a:pt x="0" y="1589902"/>
                  <a:pt x="1589902" y="0"/>
                  <a:pt x="3551145" y="0"/>
                </a:cubicBezTo>
                <a:close/>
              </a:path>
            </a:pathLst>
          </a:custGeom>
          <a:gradFill flip="none" rotWithShape="1"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293768" y="5702459"/>
            <a:ext cx="2275932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algn="r"/>
            <a:r>
              <a:rPr lang="en-US" altLang="zh-CN" dirty="0"/>
              <a:t> 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430" y="488315"/>
            <a:ext cx="2451100" cy="4806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05" y="317500"/>
            <a:ext cx="2808605" cy="822960"/>
          </a:xfrm>
          <a:prstGeom prst="rect">
            <a:avLst/>
          </a:prstGeom>
        </p:spPr>
      </p:pic>
      <p:pic>
        <p:nvPicPr>
          <p:cNvPr id="10" name="图片 9" descr="logo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430" y="5702300"/>
            <a:ext cx="2781300" cy="466090"/>
          </a:xfrm>
          <a:prstGeom prst="rect">
            <a:avLst/>
          </a:prstGeom>
        </p:spPr>
      </p:pic>
      <p:pic>
        <p:nvPicPr>
          <p:cNvPr id="14" name="图片 13" descr="logo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1360" y="5579745"/>
            <a:ext cx="2139315" cy="775335"/>
          </a:xfrm>
          <a:prstGeom prst="rect">
            <a:avLst/>
          </a:prstGeom>
        </p:spPr>
      </p:pic>
      <p:pic>
        <p:nvPicPr>
          <p:cNvPr id="15" name="图片 14" descr="logo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5305" y="5649595"/>
            <a:ext cx="2941320" cy="518795"/>
          </a:xfrm>
          <a:prstGeom prst="rect">
            <a:avLst/>
          </a:prstGeom>
        </p:spPr>
      </p:pic>
      <p:pic>
        <p:nvPicPr>
          <p:cNvPr id="19" name="图片 18" descr="logo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1255" y="5702300"/>
            <a:ext cx="1520825" cy="456565"/>
          </a:xfrm>
          <a:prstGeom prst="rect">
            <a:avLst/>
          </a:prstGeom>
        </p:spPr>
      </p:pic>
      <p:pic>
        <p:nvPicPr>
          <p:cNvPr id="20" name="图片 19" descr="logo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6710" y="5749925"/>
            <a:ext cx="1503045" cy="4089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352153" y="599573"/>
            <a:ext cx="2351314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三个核心收获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6838107" y="0"/>
            <a:ext cx="2304522" cy="1269099"/>
          </a:xfrm>
          <a:custGeom>
            <a:avLst/>
            <a:gdLst>
              <a:gd name="connsiteX0" fmla="*/ 5900 w 2304522"/>
              <a:gd name="connsiteY0" fmla="*/ 0 h 1269099"/>
              <a:gd name="connsiteX1" fmla="*/ 2298622 w 2304522"/>
              <a:gd name="connsiteY1" fmla="*/ 0 h 1269099"/>
              <a:gd name="connsiteX2" fmla="*/ 2304522 w 2304522"/>
              <a:gd name="connsiteY2" fmla="*/ 116838 h 1269099"/>
              <a:gd name="connsiteX3" fmla="*/ 1152261 w 2304522"/>
              <a:gd name="connsiteY3" fmla="*/ 1269099 h 1269099"/>
              <a:gd name="connsiteX4" fmla="*/ 0 w 2304522"/>
              <a:gd name="connsiteY4" fmla="*/ 116838 h 1269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4522" h="1269099">
                <a:moveTo>
                  <a:pt x="5900" y="0"/>
                </a:moveTo>
                <a:lnTo>
                  <a:pt x="2298622" y="0"/>
                </a:lnTo>
                <a:lnTo>
                  <a:pt x="2304522" y="116838"/>
                </a:lnTo>
                <a:cubicBezTo>
                  <a:pt x="2304522" y="753214"/>
                  <a:pt x="1788637" y="1269099"/>
                  <a:pt x="1152261" y="1269099"/>
                </a:cubicBezTo>
                <a:cubicBezTo>
                  <a:pt x="515885" y="1269099"/>
                  <a:pt x="0" y="753214"/>
                  <a:pt x="0" y="116838"/>
                </a:cubicBezTo>
                <a:close/>
              </a:path>
            </a:pathLst>
          </a:custGeom>
          <a:gradFill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softEdge rad="355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54990" y="1932305"/>
            <a:ext cx="1089596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理解原理：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WHAM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如何从视频中“榨取”3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人体姿态，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GMR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如何“翻译”给机器人；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掌握流程：从环境配置到代码运行的完整复现路径；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避开坑点：映射表配置、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URDF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处理等实战踩坑经验。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>
            <a:off x="0" y="0"/>
            <a:ext cx="2597524" cy="3998259"/>
          </a:xfrm>
          <a:custGeom>
            <a:avLst/>
            <a:gdLst>
              <a:gd name="connsiteX0" fmla="*/ 441255 w 2597524"/>
              <a:gd name="connsiteY0" fmla="*/ 0 h 3998259"/>
              <a:gd name="connsiteX1" fmla="*/ 2185235 w 2597524"/>
              <a:gd name="connsiteY1" fmla="*/ 0 h 3998259"/>
              <a:gd name="connsiteX2" fmla="*/ 2284017 w 2597524"/>
              <a:gd name="connsiteY2" fmla="*/ 162601 h 3998259"/>
              <a:gd name="connsiteX3" fmla="*/ 2597524 w 2597524"/>
              <a:gd name="connsiteY3" fmla="*/ 1400735 h 3998259"/>
              <a:gd name="connsiteX4" fmla="*/ 0 w 2597524"/>
              <a:gd name="connsiteY4" fmla="*/ 3998259 h 3998259"/>
              <a:gd name="connsiteX5" fmla="*/ 0 w 2597524"/>
              <a:gd name="connsiteY5" fmla="*/ 2869167 h 3998259"/>
              <a:gd name="connsiteX6" fmla="*/ 1468432 w 2597524"/>
              <a:gd name="connsiteY6" fmla="*/ 1400735 h 3998259"/>
              <a:gd name="connsiteX7" fmla="*/ 571580 w 2597524"/>
              <a:gd name="connsiteY7" fmla="*/ 47700 h 3998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97524" h="3998259">
                <a:moveTo>
                  <a:pt x="441255" y="0"/>
                </a:moveTo>
                <a:lnTo>
                  <a:pt x="2185235" y="0"/>
                </a:lnTo>
                <a:lnTo>
                  <a:pt x="2284017" y="162601"/>
                </a:lnTo>
                <a:cubicBezTo>
                  <a:pt x="2483955" y="530653"/>
                  <a:pt x="2597524" y="952431"/>
                  <a:pt x="2597524" y="1400735"/>
                </a:cubicBezTo>
                <a:cubicBezTo>
                  <a:pt x="2597524" y="2835308"/>
                  <a:pt x="1434573" y="3998259"/>
                  <a:pt x="0" y="3998259"/>
                </a:cubicBezTo>
                <a:lnTo>
                  <a:pt x="0" y="2869167"/>
                </a:lnTo>
                <a:cubicBezTo>
                  <a:pt x="810993" y="2869167"/>
                  <a:pt x="1468432" y="2211728"/>
                  <a:pt x="1468432" y="1400735"/>
                </a:cubicBezTo>
                <a:cubicBezTo>
                  <a:pt x="1468432" y="792490"/>
                  <a:pt x="1098623" y="270620"/>
                  <a:pt x="571580" y="47700"/>
                </a:cubicBezTo>
                <a:close/>
              </a:path>
            </a:pathLst>
          </a:custGeom>
          <a:gradFill flip="none" rotWithShape="1"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578224" y="2514600"/>
            <a:ext cx="2528048" cy="3361765"/>
            <a:chOff x="1089212" y="1976718"/>
            <a:chExt cx="2528048" cy="3361765"/>
          </a:xfrm>
        </p:grpSpPr>
        <p:sp>
          <p:nvSpPr>
            <p:cNvPr id="9" name="矩形: 圆角 8"/>
            <p:cNvSpPr/>
            <p:nvPr>
              <p:custDataLst>
                <p:tags r:id="rId2"/>
              </p:custDataLst>
            </p:nvPr>
          </p:nvSpPr>
          <p:spPr>
            <a:xfrm>
              <a:off x="1089212" y="1976718"/>
              <a:ext cx="2528048" cy="3361765"/>
            </a:xfrm>
            <a:prstGeom prst="roundRect">
              <a:avLst>
                <a:gd name="adj" fmla="val 4674"/>
              </a:avLst>
            </a:prstGeom>
            <a:solidFill>
              <a:schemeClr val="bg1"/>
            </a:solidFill>
            <a:ln>
              <a:solidFill>
                <a:srgbClr val="C4EFDF"/>
              </a:solidFill>
            </a:ln>
            <a:effectLst>
              <a:outerShdw blurRad="127000" dist="38100" dir="2700000" algn="tl" rotWithShape="0">
                <a:srgbClr val="C4EFD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/>
            <p:cNvSpPr txBox="1"/>
            <p:nvPr>
              <p:custDataLst>
                <p:tags r:id="rId3"/>
              </p:custDataLst>
            </p:nvPr>
          </p:nvSpPr>
          <p:spPr>
            <a:xfrm>
              <a:off x="1941382" y="2396453"/>
              <a:ext cx="1214120" cy="7067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sz="4000" dirty="0">
                  <a:solidFill>
                    <a:srgbClr val="00B075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4000" dirty="0">
                <a:solidFill>
                  <a:srgbClr val="00B07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4"/>
              </p:custDataLst>
            </p:nvPr>
          </p:nvSpPr>
          <p:spPr>
            <a:xfrm>
              <a:off x="1091117" y="3393403"/>
              <a:ext cx="2499360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机器人数据</a:t>
              </a:r>
              <a:r>
                <a:rPr lang="zh-CN" alt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采集</a:t>
              </a:r>
              <a:endPara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" name="矩形: 圆角 14"/>
            <p:cNvSpPr/>
            <p:nvPr>
              <p:custDataLst>
                <p:tags r:id="rId5"/>
              </p:custDataLst>
            </p:nvPr>
          </p:nvSpPr>
          <p:spPr>
            <a:xfrm>
              <a:off x="2184131" y="4191281"/>
              <a:ext cx="349623" cy="67234"/>
            </a:xfrm>
            <a:prstGeom prst="roundRect">
              <a:avLst>
                <a:gd name="adj" fmla="val 50000"/>
              </a:avLst>
            </a:prstGeom>
            <a:solidFill>
              <a:srgbClr val="00B0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: 圆角 16"/>
          <p:cNvSpPr/>
          <p:nvPr>
            <p:custDataLst>
              <p:tags r:id="rId6"/>
            </p:custDataLst>
          </p:nvPr>
        </p:nvSpPr>
        <p:spPr>
          <a:xfrm>
            <a:off x="3420036" y="2519083"/>
            <a:ext cx="2528048" cy="3361765"/>
          </a:xfrm>
          <a:prstGeom prst="roundRect">
            <a:avLst>
              <a:gd name="adj" fmla="val 4674"/>
            </a:avLst>
          </a:prstGeom>
          <a:solidFill>
            <a:schemeClr val="bg1"/>
          </a:solidFill>
          <a:ln>
            <a:solidFill>
              <a:srgbClr val="C4EFDF"/>
            </a:solidFill>
          </a:ln>
          <a:effectLst>
            <a:outerShdw blurRad="127000" dist="38100" dir="2700000" algn="tl" rotWithShape="0">
              <a:srgbClr val="C4EFD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4222750" y="2938780"/>
            <a:ext cx="133032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4000" dirty="0">
                <a:solidFill>
                  <a:srgbClr val="00B075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4000" dirty="0">
              <a:solidFill>
                <a:srgbClr val="00B0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3434715" y="3936365"/>
            <a:ext cx="24892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核心技术原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理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矩形: 圆角 22"/>
          <p:cNvSpPr/>
          <p:nvPr>
            <p:custDataLst>
              <p:tags r:id="rId9"/>
            </p:custDataLst>
          </p:nvPr>
        </p:nvSpPr>
        <p:spPr>
          <a:xfrm>
            <a:off x="4514955" y="4733646"/>
            <a:ext cx="349623" cy="67234"/>
          </a:xfrm>
          <a:prstGeom prst="roundRect">
            <a:avLst>
              <a:gd name="adj" fmla="val 50000"/>
            </a:avLst>
          </a:prstGeom>
          <a:solidFill>
            <a:srgbClr val="00B0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>
            <p:custDataLst>
              <p:tags r:id="rId10"/>
            </p:custDataLst>
          </p:nvPr>
        </p:nvSpPr>
        <p:spPr>
          <a:xfrm>
            <a:off x="6288742" y="2510119"/>
            <a:ext cx="2528048" cy="3361765"/>
          </a:xfrm>
          <a:prstGeom prst="roundRect">
            <a:avLst>
              <a:gd name="adj" fmla="val 4674"/>
            </a:avLst>
          </a:prstGeom>
          <a:solidFill>
            <a:schemeClr val="bg1"/>
          </a:solidFill>
          <a:ln>
            <a:solidFill>
              <a:srgbClr val="C4EFDF"/>
            </a:solidFill>
          </a:ln>
          <a:effectLst>
            <a:outerShdw blurRad="127000" dist="38100" dir="2700000" algn="tl" rotWithShape="0">
              <a:srgbClr val="C4EFD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7075544" y="2929728"/>
            <a:ext cx="95444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4000" dirty="0">
                <a:solidFill>
                  <a:srgbClr val="00B075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4000" dirty="0">
              <a:solidFill>
                <a:srgbClr val="00B0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6416400" y="3927103"/>
            <a:ext cx="228414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核心技术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实现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矩形: 圆角 30"/>
          <p:cNvSpPr/>
          <p:nvPr>
            <p:custDataLst>
              <p:tags r:id="rId13"/>
            </p:custDataLst>
          </p:nvPr>
        </p:nvSpPr>
        <p:spPr>
          <a:xfrm>
            <a:off x="7383661" y="4724682"/>
            <a:ext cx="349623" cy="67234"/>
          </a:xfrm>
          <a:prstGeom prst="roundRect">
            <a:avLst>
              <a:gd name="adj" fmla="val 50000"/>
            </a:avLst>
          </a:prstGeom>
          <a:solidFill>
            <a:srgbClr val="00B0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/>
          <p:cNvSpPr/>
          <p:nvPr>
            <p:custDataLst>
              <p:tags r:id="rId14"/>
            </p:custDataLst>
          </p:nvPr>
        </p:nvSpPr>
        <p:spPr>
          <a:xfrm>
            <a:off x="9152964" y="2528049"/>
            <a:ext cx="2528048" cy="3361765"/>
          </a:xfrm>
          <a:prstGeom prst="roundRect">
            <a:avLst>
              <a:gd name="adj" fmla="val 4674"/>
            </a:avLst>
          </a:prstGeom>
          <a:solidFill>
            <a:schemeClr val="bg1"/>
          </a:solidFill>
          <a:ln>
            <a:solidFill>
              <a:srgbClr val="C4EFDF"/>
            </a:solidFill>
          </a:ln>
          <a:effectLst>
            <a:outerShdw blurRad="127000" dist="38100" dir="2700000" algn="tl" rotWithShape="0">
              <a:srgbClr val="C4EFD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9955530" y="2947670"/>
            <a:ext cx="113728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4000" dirty="0">
                <a:solidFill>
                  <a:srgbClr val="00B075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4000" dirty="0">
              <a:solidFill>
                <a:srgbClr val="00B0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6"/>
            </p:custDataLst>
          </p:nvPr>
        </p:nvSpPr>
        <p:spPr>
          <a:xfrm>
            <a:off x="9280622" y="3945033"/>
            <a:ext cx="228414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openloong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大师赛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复现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9" name="矩形: 圆角 38"/>
          <p:cNvSpPr/>
          <p:nvPr>
            <p:custDataLst>
              <p:tags r:id="rId17"/>
            </p:custDataLst>
          </p:nvPr>
        </p:nvSpPr>
        <p:spPr>
          <a:xfrm>
            <a:off x="10247883" y="4742612"/>
            <a:ext cx="349623" cy="67234"/>
          </a:xfrm>
          <a:prstGeom prst="roundRect">
            <a:avLst>
              <a:gd name="adj" fmla="val 50000"/>
            </a:avLst>
          </a:prstGeom>
          <a:solidFill>
            <a:srgbClr val="00B0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4538576" y="669438"/>
            <a:ext cx="3114848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rgbClr val="00B075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4400" b="1" dirty="0">
              <a:solidFill>
                <a:srgbClr val="00B0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920343" y="1726063"/>
            <a:ext cx="235131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CONTENTS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6838107" y="0"/>
            <a:ext cx="2304522" cy="1269099"/>
          </a:xfrm>
          <a:custGeom>
            <a:avLst/>
            <a:gdLst>
              <a:gd name="connsiteX0" fmla="*/ 5900 w 2304522"/>
              <a:gd name="connsiteY0" fmla="*/ 0 h 1269099"/>
              <a:gd name="connsiteX1" fmla="*/ 2298622 w 2304522"/>
              <a:gd name="connsiteY1" fmla="*/ 0 h 1269099"/>
              <a:gd name="connsiteX2" fmla="*/ 2304522 w 2304522"/>
              <a:gd name="connsiteY2" fmla="*/ 116838 h 1269099"/>
              <a:gd name="connsiteX3" fmla="*/ 1152261 w 2304522"/>
              <a:gd name="connsiteY3" fmla="*/ 1269099 h 1269099"/>
              <a:gd name="connsiteX4" fmla="*/ 0 w 2304522"/>
              <a:gd name="connsiteY4" fmla="*/ 116838 h 1269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4522" h="1269099">
                <a:moveTo>
                  <a:pt x="5900" y="0"/>
                </a:moveTo>
                <a:lnTo>
                  <a:pt x="2298622" y="0"/>
                </a:lnTo>
                <a:lnTo>
                  <a:pt x="2304522" y="116838"/>
                </a:lnTo>
                <a:cubicBezTo>
                  <a:pt x="2304522" y="753214"/>
                  <a:pt x="1788637" y="1269099"/>
                  <a:pt x="1152261" y="1269099"/>
                </a:cubicBezTo>
                <a:cubicBezTo>
                  <a:pt x="515885" y="1269099"/>
                  <a:pt x="0" y="753214"/>
                  <a:pt x="0" y="116838"/>
                </a:cubicBezTo>
                <a:close/>
              </a:path>
            </a:pathLst>
          </a:custGeom>
          <a:gradFill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softEdge rad="355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0" y="6985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: 空心 3"/>
          <p:cNvSpPr/>
          <p:nvPr/>
        </p:nvSpPr>
        <p:spPr>
          <a:xfrm>
            <a:off x="3002055" y="438430"/>
            <a:ext cx="6187889" cy="6187889"/>
          </a:xfrm>
          <a:prstGeom prst="donut">
            <a:avLst>
              <a:gd name="adj" fmla="val 21734"/>
            </a:avLst>
          </a:prstGeom>
          <a:gradFill flip="none" rotWithShape="1"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235960" y="2921635"/>
            <a:ext cx="58826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</a:rPr>
              <a:t>机器人数据采集</a:t>
            </a:r>
            <a:endParaRPr lang="zh-CN" altLang="en-US" sz="6000" b="1" dirty="0">
              <a:solidFill>
                <a:srgbClr val="19191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9716463" y="5047128"/>
            <a:ext cx="2475537" cy="1810872"/>
          </a:xfrm>
          <a:custGeom>
            <a:avLst/>
            <a:gdLst>
              <a:gd name="connsiteX0" fmla="*/ 2475537 w 2475537"/>
              <a:gd name="connsiteY0" fmla="*/ 0 h 1810872"/>
              <a:gd name="connsiteX1" fmla="*/ 2475537 w 2475537"/>
              <a:gd name="connsiteY1" fmla="*/ 1129092 h 1810872"/>
              <a:gd name="connsiteX2" fmla="*/ 1257890 w 2475537"/>
              <a:gd name="connsiteY2" fmla="*/ 1776510 h 1810872"/>
              <a:gd name="connsiteX3" fmla="*/ 1237014 w 2475537"/>
              <a:gd name="connsiteY3" fmla="*/ 1810872 h 1810872"/>
              <a:gd name="connsiteX4" fmla="*/ 0 w 2475537"/>
              <a:gd name="connsiteY4" fmla="*/ 1810872 h 1810872"/>
              <a:gd name="connsiteX5" fmla="*/ 82139 w 2475537"/>
              <a:gd name="connsiteY5" fmla="*/ 1586451 h 1810872"/>
              <a:gd name="connsiteX6" fmla="*/ 2475537 w 2475537"/>
              <a:gd name="connsiteY6" fmla="*/ 0 h 1810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5537" h="1810872">
                <a:moveTo>
                  <a:pt x="2475537" y="0"/>
                </a:moveTo>
                <a:lnTo>
                  <a:pt x="2475537" y="1129092"/>
                </a:lnTo>
                <a:cubicBezTo>
                  <a:pt x="1968666" y="1129092"/>
                  <a:pt x="1521778" y="1385904"/>
                  <a:pt x="1257890" y="1776510"/>
                </a:cubicBezTo>
                <a:lnTo>
                  <a:pt x="1237014" y="1810872"/>
                </a:lnTo>
                <a:lnTo>
                  <a:pt x="0" y="1810872"/>
                </a:lnTo>
                <a:lnTo>
                  <a:pt x="82139" y="1586451"/>
                </a:lnTo>
                <a:cubicBezTo>
                  <a:pt x="476465" y="654160"/>
                  <a:pt x="1399607" y="0"/>
                  <a:pt x="2475537" y="0"/>
                </a:cubicBezTo>
                <a:close/>
              </a:path>
            </a:pathLst>
          </a:custGeom>
          <a:gradFill flip="none" rotWithShape="1"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49049" y="309283"/>
            <a:ext cx="2304521" cy="2304521"/>
          </a:xfrm>
          <a:prstGeom prst="ellipse">
            <a:avLst/>
          </a:prstGeom>
          <a:gradFill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softEdge rad="355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341831" y="1867649"/>
            <a:ext cx="3508338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rgbClr val="00B075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6600" dirty="0">
              <a:solidFill>
                <a:srgbClr val="00B075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652349" y="182881"/>
            <a:ext cx="6887302" cy="6887302"/>
          </a:xfrm>
          <a:prstGeom prst="ellipse">
            <a:avLst/>
          </a:prstGeom>
          <a:noFill/>
          <a:ln>
            <a:gradFill>
              <a:gsLst>
                <a:gs pos="0">
                  <a:srgbClr val="00B075">
                    <a:alpha val="31000"/>
                  </a:srgbClr>
                </a:gs>
                <a:gs pos="100000">
                  <a:srgbClr val="00B075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397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pic>
        <p:nvPicPr>
          <p:cNvPr id="2" name="图片 1" descr="数据采集路线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69240"/>
            <a:ext cx="9684385" cy="6508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8530" y="217557"/>
            <a:ext cx="1218034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rgbClr val="00B075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6600" dirty="0">
              <a:solidFill>
                <a:srgbClr val="00B075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6985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157894" y="173742"/>
            <a:ext cx="1293715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rgbClr val="00B075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6600" dirty="0">
              <a:solidFill>
                <a:srgbClr val="00B075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wham-gmr路线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9570" y="1521460"/>
            <a:ext cx="9401175" cy="52647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51610" y="266065"/>
            <a:ext cx="101841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WHAM+GMR 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的本质，是一套“用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软件替代硬件动捕设备”的低成本动作捕捉方案。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它属于“人类动作捕捉采集”这个大路径下的“视觉无标记”流派，其核心产出是运动学数据（关节轨迹），而非物理交互数据（力/力矩）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0" y="1397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: 空心 3"/>
          <p:cNvSpPr/>
          <p:nvPr/>
        </p:nvSpPr>
        <p:spPr>
          <a:xfrm>
            <a:off x="3002055" y="438430"/>
            <a:ext cx="6187889" cy="6187889"/>
          </a:xfrm>
          <a:prstGeom prst="donut">
            <a:avLst>
              <a:gd name="adj" fmla="val 21734"/>
            </a:avLst>
          </a:prstGeom>
          <a:gradFill flip="none" rotWithShape="1"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68675" y="2849880"/>
            <a:ext cx="555752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原理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49049" y="309283"/>
            <a:ext cx="2304521" cy="2304521"/>
          </a:xfrm>
          <a:prstGeom prst="ellipse">
            <a:avLst/>
          </a:prstGeom>
          <a:gradFill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softEdge rad="355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341831" y="1867649"/>
            <a:ext cx="3508338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rgbClr val="00B075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6600" dirty="0">
              <a:solidFill>
                <a:srgbClr val="00B075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652349" y="182881"/>
            <a:ext cx="6887302" cy="6887302"/>
          </a:xfrm>
          <a:prstGeom prst="ellipse">
            <a:avLst/>
          </a:prstGeom>
          <a:noFill/>
          <a:ln>
            <a:gradFill>
              <a:gsLst>
                <a:gs pos="0">
                  <a:srgbClr val="00B075">
                    <a:alpha val="31000"/>
                  </a:srgbClr>
                </a:gs>
                <a:gs pos="100000">
                  <a:srgbClr val="00B075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397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328074" y="387737"/>
            <a:ext cx="1293715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rgbClr val="00B075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6600" dirty="0">
              <a:solidFill>
                <a:srgbClr val="00B075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1175" y="387985"/>
            <a:ext cx="3714750" cy="3149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25" y="3584575"/>
            <a:ext cx="10174605" cy="32086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415" y="753745"/>
            <a:ext cx="4381500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397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328074" y="387737"/>
            <a:ext cx="1293715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rgbClr val="00B075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6600" dirty="0">
              <a:solidFill>
                <a:srgbClr val="00B075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wham技术流程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1790" y="647700"/>
            <a:ext cx="9933940" cy="5591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985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328074" y="387737"/>
            <a:ext cx="1293715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rgbClr val="00B075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6600" dirty="0">
              <a:solidFill>
                <a:srgbClr val="00B075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870" y="1242695"/>
            <a:ext cx="9810750" cy="51879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53235" y="636270"/>
            <a:ext cx="76161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latin typeface="Times New Roman" panose="02020603050405020304" charset="0"/>
                <a:cs typeface="Times New Roman" panose="02020603050405020304" charset="0"/>
              </a:rPr>
              <a:t>GMR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五步流程</a:t>
            </a:r>
            <a:r>
              <a:rPr lang="zh-CN" altLang="en-US" sz="2800" b="1">
                <a:latin typeface="Times New Roman" panose="02020603050405020304" charset="0"/>
                <a:cs typeface="Times New Roman" panose="02020603050405020304" charset="0"/>
              </a:rPr>
              <a:t>图</a:t>
            </a:r>
            <a:endParaRPr lang="zh-CN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985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328074" y="387737"/>
            <a:ext cx="1293715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rgbClr val="00B075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6600" dirty="0">
              <a:solidFill>
                <a:srgbClr val="00B075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 descr="gmr图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955" y="795655"/>
            <a:ext cx="10239375" cy="572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/>
          <p:cNvSpPr/>
          <p:nvPr/>
        </p:nvSpPr>
        <p:spPr>
          <a:xfrm>
            <a:off x="-2839572" y="-3092825"/>
            <a:ext cx="5195047" cy="5195047"/>
          </a:xfrm>
          <a:prstGeom prst="donut">
            <a:avLst>
              <a:gd name="adj" fmla="val 21734"/>
            </a:avLst>
          </a:prstGeom>
          <a:gradFill flip="none" rotWithShape="1"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: 空心 3"/>
          <p:cNvSpPr/>
          <p:nvPr/>
        </p:nvSpPr>
        <p:spPr>
          <a:xfrm>
            <a:off x="3002055" y="438430"/>
            <a:ext cx="6187889" cy="6187889"/>
          </a:xfrm>
          <a:prstGeom prst="donut">
            <a:avLst>
              <a:gd name="adj" fmla="val 21734"/>
            </a:avLst>
          </a:prstGeom>
          <a:gradFill flip="none" rotWithShape="1"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368951" y="2849731"/>
            <a:ext cx="5454097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: 空心 6"/>
          <p:cNvSpPr/>
          <p:nvPr/>
        </p:nvSpPr>
        <p:spPr>
          <a:xfrm>
            <a:off x="9594476" y="5047128"/>
            <a:ext cx="5195047" cy="5195047"/>
          </a:xfrm>
          <a:prstGeom prst="donut">
            <a:avLst>
              <a:gd name="adj" fmla="val 21734"/>
            </a:avLst>
          </a:prstGeom>
          <a:gradFill flip="none" rotWithShape="1"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49049" y="309283"/>
            <a:ext cx="2304521" cy="2304521"/>
          </a:xfrm>
          <a:prstGeom prst="ellipse">
            <a:avLst/>
          </a:prstGeom>
          <a:gradFill>
            <a:gsLst>
              <a:gs pos="0">
                <a:srgbClr val="E4F8F1">
                  <a:alpha val="0"/>
                </a:srgbClr>
              </a:gs>
              <a:gs pos="100000">
                <a:srgbClr val="C4EFDF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softEdge rad="355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341831" y="1867649"/>
            <a:ext cx="3508338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rgbClr val="00B075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6600" dirty="0">
              <a:solidFill>
                <a:srgbClr val="00B075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652349" y="182881"/>
            <a:ext cx="6887302" cy="6887302"/>
          </a:xfrm>
          <a:prstGeom prst="ellipse">
            <a:avLst/>
          </a:prstGeom>
          <a:noFill/>
          <a:ln>
            <a:gradFill>
              <a:gsLst>
                <a:gs pos="0">
                  <a:srgbClr val="00B075">
                    <a:alpha val="31000"/>
                  </a:srgbClr>
                </a:gs>
                <a:gs pos="100000">
                  <a:srgbClr val="00B075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4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28074" y="387737"/>
            <a:ext cx="1293715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rgbClr val="00B075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6600" dirty="0">
              <a:solidFill>
                <a:srgbClr val="00B075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84375" y="644525"/>
            <a:ext cx="825182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run.sh / run.ps1          ← ★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主入口（环境变量 →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handle_wham_gmr.py）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 handle_wham_gmr.py         ← ★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集成核心：多线程管线编排器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├─ 线程1: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reader     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读帧（视频/摄像头）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├─ 线程2: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detector        YOLOv8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人体检测 +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ByteTracker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追踪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├─ 线程3: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extractor       ViT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特征提取 + 2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关键点归一化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├─ 线程4: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wham            WHAM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 →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SMPL-X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├─ 主线程: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gmr             IK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重定向 →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qpos → CSV/PKL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└─ 渲染线程: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viewer       MuJoCo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 + 视频录制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数据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385" y="3228975"/>
            <a:ext cx="9020810" cy="36296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3970"/>
            <a:ext cx="12192000" cy="6844665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105824" y="113417"/>
            <a:ext cx="1293715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6600" dirty="0">
                <a:solidFill>
                  <a:srgbClr val="00B075">
                    <a:alpha val="1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6600" dirty="0">
              <a:solidFill>
                <a:srgbClr val="00B075">
                  <a:alpha val="1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36395" y="924560"/>
            <a:ext cx="6384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304800" y="1077595"/>
          <a:ext cx="11645900" cy="5780405"/>
        </p:xfrm>
        <a:graphic>
          <a:graphicData uri="http://schemas.openxmlformats.org/drawingml/2006/table">
            <a:tbl>
              <a:tblPr/>
              <a:tblGrid>
                <a:gridCol w="2911475"/>
                <a:gridCol w="2911475"/>
                <a:gridCol w="2911475"/>
                <a:gridCol w="2911475"/>
              </a:tblGrid>
              <a:tr h="48768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层级</a:t>
                      </a:r>
                      <a:endParaRPr lang="zh-CN" altLang="en-US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核心模块</a:t>
                      </a:r>
                      <a:endParaRPr lang="zh-CN" altLang="en-US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模块职责</a:t>
                      </a:r>
                      <a:endParaRPr lang="zh-CN" altLang="en-US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关键文件</a:t>
                      </a:r>
                      <a:endParaRPr lang="zh-CN" altLang="en-US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5854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 </a:t>
                      </a: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输入层</a:t>
                      </a:r>
                      <a:endParaRPr lang="zh-CN" altLang="en-US" sz="2000" b="1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reader / detector / extractor</a:t>
                      </a:r>
                      <a:endParaRPr lang="en-US" altLang="zh-CN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逐帧读取视频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检测人体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提取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2D/3D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特征</a:t>
                      </a:r>
                      <a:endParaRPr lang="zh-CN" altLang="en-US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handle_wham_gmr.py</a:t>
                      </a:r>
                      <a:endParaRPr lang="en-US" altLang="zh-CN" sz="2000" b="0" i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5854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 </a:t>
                      </a: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推理层</a:t>
                      </a:r>
                      <a:endParaRPr lang="zh-CN" altLang="en-US" sz="2000" b="1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WHAM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网络</a:t>
                      </a:r>
                      <a:endParaRPr lang="zh-CN" altLang="en-US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时序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3D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人体姿态与运动估计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SMPL-X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</a:t>
                      </a:r>
                      <a:endParaRPr lang="zh-CN" altLang="en-US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lib/models/wham.py</a:t>
                      </a:r>
                      <a:endParaRPr lang="en-US" altLang="zh-CN" sz="2000" b="0" i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5854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 </a:t>
                      </a: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重定向层</a:t>
                      </a:r>
                      <a:endParaRPr lang="zh-CN" altLang="en-US" sz="2000" b="1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GMR IK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引擎</a:t>
                      </a:r>
                      <a:endParaRPr lang="zh-CN" altLang="en-US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将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SMPL-X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人体运动数据逆运动学重定向为机器人关节角</a:t>
                      </a:r>
                      <a:endParaRPr lang="zh-CN" altLang="en-US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motion_retarget.py</a:t>
                      </a:r>
                      <a:endParaRPr lang="en-US" altLang="zh-CN" sz="2000" b="0" i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5854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 </a:t>
                      </a: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后处理层</a:t>
                      </a:r>
                      <a:endParaRPr lang="zh-CN" altLang="en-US" sz="2000" b="1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OnlineQposPostprocessor</a:t>
                      </a:r>
                      <a:endParaRPr lang="en-US" altLang="zh-CN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轨迹平滑滤波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碰撞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贴地校正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坐标原点归零</a:t>
                      </a:r>
                      <a:endParaRPr lang="zh-CN" altLang="en-US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smplx_to_robot_stream.py</a:t>
                      </a:r>
                      <a:endParaRPr lang="en-US" altLang="zh-CN" sz="2000" b="0" i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5854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 </a:t>
                      </a:r>
                      <a:r>
                        <a:rPr lang="zh-CN" altLang="en-US" sz="2000" b="1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输出层</a:t>
                      </a:r>
                      <a:endParaRPr lang="zh-CN" altLang="en-US" sz="2000" b="1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viewer / CSV / PKL</a:t>
                      </a:r>
                      <a:endParaRPr lang="en-US" altLang="zh-CN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MuJoCo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实时渲染可视化 </a:t>
                      </a:r>
                      <a:r>
                        <a:rPr lang="en-US" altLang="zh-CN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lang="zh-CN" altLang="en-US" sz="200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轨迹数据持久化存储</a:t>
                      </a:r>
                      <a:endParaRPr lang="zh-CN" altLang="en-US" sz="200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i="0">
                          <a:solidFill>
                            <a:srgbClr val="1F1F1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robot_motion_viewer.py</a:t>
                      </a:r>
                      <a:endParaRPr lang="en-US" altLang="zh-CN" sz="2000" b="0" i="0">
                        <a:solidFill>
                          <a:srgbClr val="1F1F1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E4F8F1"/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701832">
            <a:off x="8012378" y="4247266"/>
            <a:ext cx="663425" cy="5702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701832">
            <a:off x="11575192" y="5553818"/>
            <a:ext cx="663425" cy="103841"/>
          </a:xfrm>
          <a:prstGeom prst="rect">
            <a:avLst/>
          </a:prstGeom>
        </p:spPr>
      </p:pic>
      <p:grpSp>
        <p:nvGrpSpPr>
          <p:cNvPr id="29" name="组合 28"/>
          <p:cNvGrpSpPr/>
          <p:nvPr/>
        </p:nvGrpSpPr>
        <p:grpSpPr>
          <a:xfrm>
            <a:off x="3041750" y="1990337"/>
            <a:ext cx="6012815" cy="2596353"/>
            <a:chOff x="3002964" y="2217073"/>
            <a:chExt cx="6012815" cy="2596353"/>
          </a:xfrm>
        </p:grpSpPr>
        <p:sp>
          <p:nvSpPr>
            <p:cNvPr id="6" name="文本框 5"/>
            <p:cNvSpPr txBox="1"/>
            <p:nvPr/>
          </p:nvSpPr>
          <p:spPr>
            <a:xfrm>
              <a:off x="3002964" y="2217073"/>
              <a:ext cx="6012815" cy="1198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b="1" dirty="0">
                  <a:solidFill>
                    <a:srgbClr val="00B075"/>
                  </a:solidFill>
                  <a:latin typeface="微软雅黑" panose="020B0503020204020204" charset="-122"/>
                  <a:ea typeface="微软雅黑" panose="020B0503020204020204" charset="-122"/>
                </a:rPr>
                <a:t>感谢您</a:t>
              </a:r>
              <a:r>
                <a:rPr lang="zh-CN" altLang="en-US" sz="7200" b="1" dirty="0">
                  <a:solidFill>
                    <a:srgbClr val="00B075"/>
                  </a:solidFill>
                  <a:latin typeface="微软雅黑" panose="020B0503020204020204" charset="-122"/>
                  <a:ea typeface="微软雅黑" panose="020B0503020204020204" charset="-122"/>
                </a:rPr>
                <a:t>的聆听</a:t>
              </a:r>
              <a:endParaRPr lang="zh-CN" altLang="en-US" sz="7200" b="1" dirty="0">
                <a:solidFill>
                  <a:srgbClr val="00B07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015789" y="3489613"/>
              <a:ext cx="3833495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00B075"/>
                  </a:solidFill>
                  <a:latin typeface="Times New Roman" panose="02020603050405020304" charset="0"/>
                  <a:cs typeface="Times New Roman" panose="02020603050405020304" charset="0"/>
                </a:rPr>
                <a:t>THANK YOU WATCHING</a:t>
              </a:r>
              <a:endParaRPr lang="en-US" altLang="zh-CN" sz="2400" dirty="0">
                <a:solidFill>
                  <a:srgbClr val="00B075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010039" y="4310781"/>
              <a:ext cx="3839210" cy="502645"/>
              <a:chOff x="2154604" y="5095680"/>
              <a:chExt cx="3839210" cy="502645"/>
            </a:xfrm>
          </p:grpSpPr>
          <p:sp>
            <p:nvSpPr>
              <p:cNvPr id="8" name="矩形: 圆角 7"/>
              <p:cNvSpPr/>
              <p:nvPr/>
            </p:nvSpPr>
            <p:spPr>
              <a:xfrm>
                <a:off x="3098849" y="5095680"/>
                <a:ext cx="2205860" cy="50264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bg1"/>
                  </a:gs>
                  <a:gs pos="100000">
                    <a:srgbClr val="C4EFDF"/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2154604" y="5213790"/>
                <a:ext cx="3839210" cy="306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Xbotics </a:t>
                </a:r>
                <a:r>
                  <a:rPr lang="en-US" altLang="zh-CN" sz="1400" dirty="0">
                    <a:solidFill>
                      <a:schemeClr val="accent2"/>
                    </a:solidFill>
                    <a:latin typeface="+mj-ea"/>
                    <a:ea typeface="+mj-ea"/>
                  </a:rPr>
                  <a:t>X </a:t>
                </a:r>
                <a:r>
                  <a:rPr lang="en-US" altLang="zh-CN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2026.08.30</a:t>
                </a: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1927412" y="1864659"/>
            <a:ext cx="708211" cy="125504"/>
            <a:chOff x="-62752" y="-1900518"/>
            <a:chExt cx="708211" cy="125504"/>
          </a:xfrm>
        </p:grpSpPr>
        <p:sp>
          <p:nvSpPr>
            <p:cNvPr id="24" name="椭圆 23"/>
            <p:cNvSpPr/>
            <p:nvPr/>
          </p:nvSpPr>
          <p:spPr>
            <a:xfrm>
              <a:off x="-62752" y="-1900518"/>
              <a:ext cx="125504" cy="1255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228601" y="-1900518"/>
              <a:ext cx="125504" cy="1255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519955" y="-1900518"/>
              <a:ext cx="125504" cy="12550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椭圆 26"/>
          <p:cNvSpPr/>
          <p:nvPr/>
        </p:nvSpPr>
        <p:spPr>
          <a:xfrm>
            <a:off x="12620513" y="178396"/>
            <a:ext cx="1063215" cy="1063215"/>
          </a:xfrm>
          <a:prstGeom prst="ellipse">
            <a:avLst/>
          </a:prstGeom>
          <a:noFill/>
          <a:ln>
            <a:gradFill>
              <a:gsLst>
                <a:gs pos="0">
                  <a:srgbClr val="00B075"/>
                </a:gs>
                <a:gs pos="100000">
                  <a:srgbClr val="00B075">
                    <a:alpha val="0"/>
                  </a:srgb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155" y="418465"/>
            <a:ext cx="2808605" cy="8229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659765"/>
            <a:ext cx="2451100" cy="480695"/>
          </a:xfrm>
          <a:prstGeom prst="rect">
            <a:avLst/>
          </a:prstGeom>
        </p:spPr>
      </p:pic>
      <p:pic>
        <p:nvPicPr>
          <p:cNvPr id="7" name="图片 6" descr="logo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430" y="5702300"/>
            <a:ext cx="2781300" cy="466090"/>
          </a:xfrm>
          <a:prstGeom prst="rect">
            <a:avLst/>
          </a:prstGeom>
        </p:spPr>
      </p:pic>
      <p:pic>
        <p:nvPicPr>
          <p:cNvPr id="14" name="图片 13" descr="logo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1360" y="5579745"/>
            <a:ext cx="2139315" cy="775335"/>
          </a:xfrm>
          <a:prstGeom prst="rect">
            <a:avLst/>
          </a:prstGeom>
        </p:spPr>
      </p:pic>
      <p:pic>
        <p:nvPicPr>
          <p:cNvPr id="17" name="图片 16" descr="logo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5305" y="5649595"/>
            <a:ext cx="2941320" cy="518795"/>
          </a:xfrm>
          <a:prstGeom prst="rect">
            <a:avLst/>
          </a:prstGeom>
        </p:spPr>
      </p:pic>
      <p:pic>
        <p:nvPicPr>
          <p:cNvPr id="19" name="图片 18" descr="logo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1255" y="5702300"/>
            <a:ext cx="1520825" cy="456565"/>
          </a:xfrm>
          <a:prstGeom prst="rect">
            <a:avLst/>
          </a:prstGeom>
        </p:spPr>
      </p:pic>
      <p:pic>
        <p:nvPicPr>
          <p:cNvPr id="20" name="图片 19" descr="logo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6710" y="5749925"/>
            <a:ext cx="1503045" cy="4089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2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3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4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5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6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7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8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9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10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11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12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13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14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15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16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17.xml><?xml version="1.0" encoding="utf-8"?>
<p:tagLst xmlns:p="http://schemas.openxmlformats.org/presentationml/2006/main">
  <p:tag name="KSO_WM_DIAGRAM_VIRTUALLY_FRAME" val="{&quot;height&quot;:314.23834645669285,&quot;left&quot;:45.529448818897635,&quot;top&quot;:197.6471653543307,&quot;width&quot;:874.2352755905513}"/>
</p:tagLst>
</file>

<file path=ppt/tags/tag18.xml><?xml version="1.0" encoding="utf-8"?>
<p:tagLst xmlns:p="http://schemas.openxmlformats.org/presentationml/2006/main">
  <p:tag name="TABLE_ENDDRAG_ORIGIN_RECT" val="916*455"/>
  <p:tag name="TABLE_ENDDRAG_RECT" val="24*84*916*455"/>
</p:tagLst>
</file>

<file path=ppt/tags/tag19.xml><?xml version="1.0" encoding="utf-8"?>
<p:tagLst xmlns:p="http://schemas.openxmlformats.org/presentationml/2006/main">
  <p:tag name="COMMONDATA" val="eyJoZGlkIjoiNTQ0MDc3NzBkNTM1ZjYzYmNhY2VjZGI2NTUwOWI0NjkifQ=="/>
  <p:tag name="KSO_WPP_MARK_KEY" val="a98c014f-197f-4e30-b58f-767884920de2"/>
  <p:tag name="resource_record_key" val="{&quot;10&quot;:[3481656]}"/>
</p:tagLst>
</file>

<file path=ppt/theme/theme1.xml><?xml version="1.0" encoding="utf-8"?>
<a:theme xmlns:a="http://schemas.openxmlformats.org/drawingml/2006/main" name="Office 主题​​">
  <a:themeElements>
    <a:clrScheme name="自定义 1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EFDF"/>
      </a:accent1>
      <a:accent2>
        <a:srgbClr val="00B07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7">
      <a:majorFont>
        <a:latin typeface="Montserrat ExtraBold"/>
        <a:ea typeface="MiSans Heavy"/>
        <a:cs typeface=""/>
      </a:majorFont>
      <a:minorFont>
        <a:latin typeface="Montserrat ExtraBold"/>
        <a:ea typeface="思源黑体 CN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 C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Light"/>
        <a:ea typeface=""/>
        <a:cs typeface=""/>
        <a:font script="Jpan" typeface="ＭＳ Ｐゴシック"/>
        <a:font script="Hang" typeface="맑은 고딕"/>
        <a:font script="Hans" typeface="思源宋体 CN Light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宋体 C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Light"/>
        <a:ea typeface=""/>
        <a:cs typeface=""/>
        <a:font script="Jpan" typeface="ＭＳ Ｐゴシック"/>
        <a:font script="Hang" typeface="맑은 고딕"/>
        <a:font script="Hans" typeface="思源宋体 CN Light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1160</Words>
  <Application>WPS 演示</Application>
  <PresentationFormat>宽屏</PresentationFormat>
  <Paragraphs>138</Paragraphs>
  <Slides>15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思源黑体 CN Light</vt:lpstr>
      <vt:lpstr>黑体</vt:lpstr>
      <vt:lpstr>思源宋体 CN Light</vt:lpstr>
      <vt:lpstr>微软雅黑</vt:lpstr>
      <vt:lpstr>Times New Roman</vt:lpstr>
      <vt:lpstr>Montserrat ExtraBold</vt:lpstr>
      <vt:lpstr>Segoe Print</vt:lpstr>
      <vt:lpstr>MiSans Heavy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 soft</dc:creator>
  <cp:lastModifiedBy>董圣娇</cp:lastModifiedBy>
  <cp:revision>129</cp:revision>
  <dcterms:created xsi:type="dcterms:W3CDTF">2022-05-26T08:09:00Z</dcterms:created>
  <dcterms:modified xsi:type="dcterms:W3CDTF">2026-10-13T09:46:18Z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ED29B95C726247DAA2BF7AA36D84FB44_13</vt:lpwstr>
  </property>
  <property fmtid="{D5CDD505-2E9C-101B-9397-08002B2CF9AE}" pid="3" name="KSOProductBuildVer">
    <vt:lpwstr>2052-12.1.0.26895</vt:lpwstr>
  </property>
  <property fmtid="{D5CDD505-2E9C-101B-9397-08002B2CF9AE}" pid="4" name="KSOTemplateUUID">
    <vt:lpwstr>v1.0_mb_iEzepEuzqgKtqSUfapTT9A==</vt:lpwstr>
  </property>
</Properties>
</file>