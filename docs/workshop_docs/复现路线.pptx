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5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88D"/>
    <a:srgbClr val="FFF2F2"/>
    <a:srgbClr val="946D6D"/>
    <a:srgbClr val="FFF8CF"/>
    <a:srgbClr val="B0CDE6"/>
    <a:srgbClr val="FFDADA"/>
    <a:srgbClr val="FDF4D2"/>
    <a:srgbClr val="FFA2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C9630-65B8-DB27-939B-7FF1D2C94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110A38-7B32-A042-2BF1-72BA42799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7DA17B-1F56-7088-5353-D3FF8D91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20D8A-6947-FFB9-734E-A852C6DDC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D93344-4D68-402B-445F-F0A3BA9C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54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BC2D9-BCC5-8C80-0E9B-15B765FC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0B7601-DC78-82C6-AEBD-B33605C6F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2D70A-F177-048E-C945-4616410A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A25A17-55E0-4550-7FF2-C2154E25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8608C-2754-7FAC-E742-4E20553CB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29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EEF7B-5EB4-891C-3795-798F631D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DA5273-C790-E97C-220A-BA113282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FF4CB-7D54-D7C3-16E3-15E2F2CE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E58B0-173A-3AA3-2252-7D249D47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057FD-0A29-F767-A71D-4ED4FA0B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04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0039C-143E-5638-81D4-97595ECC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A91D43-E854-479C-6A30-5CDDD3A36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16A988-58B1-E626-9CF1-669FB0649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60E1A1-4ED4-7E35-B410-0E57A0AE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637F99-F916-E0B3-E35D-11EFF86A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50D760-FCCA-2498-5E1F-EF50E80D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566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5654D-3CAD-8CE9-CFAD-D796091B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1167E9-B105-D4E9-F047-DCE49B212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B9386A-84DC-4B0F-F9BF-EBDC9B455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867AE4-6D26-BAB1-F54B-628492EE7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66B825-A3ED-FDF9-5F0B-8215EE692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663B0A-DAB3-9B22-BC63-512DFDEF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BBB58F-BF8A-D1F1-F4A5-E045F724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AA58A8-EDE2-F8BB-8867-10B982A4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4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F2778-E7C2-02B2-A794-E1B8D165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16E094-7604-25CD-F337-C5F21A5B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BC25CD-CCF9-3D4C-5784-F73BD99B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C929F5-9517-2753-611F-59B58701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71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B7BB70-12C6-36B4-6B8D-34392585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907C5B-5050-43D6-0AD7-6C99684E6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9F28D-2D54-11D0-520C-6CF3461D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3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20C15-4DE1-ACCA-602A-39C9986E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85F813-DECB-023C-9B7C-499011B80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33A216-E743-D8FD-3210-25BF47D5C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DD146D-22C4-C37E-3FE1-BAEC9BA9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69238F-9608-BB2D-B2D3-B72F1B89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101810-D890-195C-1074-14666A78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5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B3C0A-662D-694A-6844-8A8990077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00A05D-F8FB-4732-034D-11C312D4C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885E01-4136-285A-338F-B3C6DE96C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4CF514-6DD4-5E3E-F0D0-1A4C5298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FF827-FFBE-F327-6F47-54C376E71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83CD4B-B5DD-8528-B7C6-56849FA2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33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B6C79-0AC7-2AB1-C3DB-262547E1C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C603A7-530E-FD57-FF92-3BD42A371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4A264F-A131-A39D-CBE0-89FD84D3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7D9E8-606C-DC24-54E0-10D325F5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0508DC-2E7D-CBA7-9D44-BB0CC8D6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50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678B95-69CF-4096-1106-C2BDEC1E0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248C96-8360-B1EC-1922-8FA88B2EF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86C885-0BCB-C090-3754-D4DDF59F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02798-4E39-3254-BC76-9453E830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496EF0-DB49-B1AD-A9D5-F1862561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97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F9D0A7-02E5-D113-9757-F2FFB816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3E58CB-B777-4245-38AB-BD563BBB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AD8D8-18F7-4EDE-ABF5-025768CC6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77E3F-043E-4396-A77F-892F228BA78F}" type="datetimeFigureOut">
              <a:rPr lang="zh-CN" altLang="en-US" smtClean="0"/>
              <a:t>2026/08/30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D25160-6698-93AD-411D-C786F1BF7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EB0A90-A93E-0FE0-118F-6C30A7367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BCC21-EAB4-4EFA-A518-EB055AB4C4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56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01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sz="3300" b="1" dirty="0"/>
              <a:t>📦 </a:t>
            </a:r>
            <a:r>
              <a:rPr sz="3200" b="1" dirty="0" err="1"/>
              <a:t>环境准备与代码部署</a:t>
            </a:r>
            <a:endParaRPr sz="3300" b="1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D23C3EE-9E07-538E-7BC5-CF9D971F1761}"/>
              </a:ext>
            </a:extLst>
          </p:cNvPr>
          <p:cNvSpPr/>
          <p:nvPr/>
        </p:nvSpPr>
        <p:spPr>
          <a:xfrm>
            <a:off x="548640" y="1500409"/>
            <a:ext cx="5303520" cy="2103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94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94FE3F7-A268-D961-F31C-6700EF589001}"/>
              </a:ext>
            </a:extLst>
          </p:cNvPr>
          <p:cNvSpPr txBox="1"/>
          <p:nvPr/>
        </p:nvSpPr>
        <p:spPr>
          <a:xfrm>
            <a:off x="658368" y="2081719"/>
            <a:ext cx="5120640" cy="9543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sz="1600" dirty="0"/>
              <a:t>GitHub </a:t>
            </a:r>
            <a:r>
              <a:rPr sz="1600" dirty="0" err="1"/>
              <a:t>仓库下载</a:t>
            </a:r>
            <a:r>
              <a:rPr sz="1600" dirty="0"/>
              <a:t> ZIP </a:t>
            </a:r>
            <a:r>
              <a:rPr sz="1600" dirty="0" err="1"/>
              <a:t>解压</a:t>
            </a:r>
            <a:br>
              <a:rPr sz="1600" dirty="0"/>
            </a:br>
            <a:r>
              <a:rPr sz="1600" dirty="0" err="1"/>
              <a:t>建议路径：D</a:t>
            </a:r>
            <a:r>
              <a:rPr sz="1600" dirty="0"/>
              <a:t>:\Robot-imitation-learning</a:t>
            </a:r>
            <a:br>
              <a:rPr sz="1600" dirty="0"/>
            </a:br>
            <a:r>
              <a:rPr sz="1600" dirty="0"/>
              <a:t>⚠ </a:t>
            </a:r>
            <a:r>
              <a:rPr sz="1600" dirty="0" err="1"/>
              <a:t>路径避免中文</a:t>
            </a:r>
            <a:endParaRPr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8FA0B7-6064-C3BD-712F-9E360679BAB3}"/>
              </a:ext>
            </a:extLst>
          </p:cNvPr>
          <p:cNvSpPr txBox="1"/>
          <p:nvPr/>
        </p:nvSpPr>
        <p:spPr>
          <a:xfrm>
            <a:off x="730039" y="1648774"/>
            <a:ext cx="184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下载代码</a:t>
            </a: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D614EDCF-95AE-A7E0-3D54-DCA8A667B744}"/>
              </a:ext>
            </a:extLst>
          </p:cNvPr>
          <p:cNvSpPr/>
          <p:nvPr/>
        </p:nvSpPr>
        <p:spPr>
          <a:xfrm>
            <a:off x="6412994" y="1500409"/>
            <a:ext cx="5303520" cy="2103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94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0EBD5E02-4497-0616-E34B-B87A0C197B95}"/>
              </a:ext>
            </a:extLst>
          </p:cNvPr>
          <p:cNvSpPr txBox="1"/>
          <p:nvPr/>
        </p:nvSpPr>
        <p:spPr>
          <a:xfrm>
            <a:off x="6522722" y="2081719"/>
            <a:ext cx="5120640" cy="9543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ModelScope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下载权重文件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checkpoints/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缺失会报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"Failed to load"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186BD1-8875-2434-0B63-17F117E9B4E5}"/>
              </a:ext>
            </a:extLst>
          </p:cNvPr>
          <p:cNvSpPr txBox="1"/>
          <p:nvPr/>
        </p:nvSpPr>
        <p:spPr>
          <a:xfrm>
            <a:off x="6594393" y="1648774"/>
            <a:ext cx="3013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下载模型权重</a:t>
            </a:r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BE32B35D-1346-4407-DE36-97BB8C782D17}"/>
              </a:ext>
            </a:extLst>
          </p:cNvPr>
          <p:cNvSpPr/>
          <p:nvPr/>
        </p:nvSpPr>
        <p:spPr>
          <a:xfrm>
            <a:off x="6412994" y="4141222"/>
            <a:ext cx="5303520" cy="2103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94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DEEF98A6-6244-FA74-BAD7-E9B4BA579196}"/>
              </a:ext>
            </a:extLst>
          </p:cNvPr>
          <p:cNvSpPr txBox="1"/>
          <p:nvPr/>
        </p:nvSpPr>
        <p:spPr>
          <a:xfrm>
            <a:off x="6522722" y="4722532"/>
            <a:ext cx="5120640" cy="9543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Anaconda /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Miniconda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二选一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✅ 无需安装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✅ 无需安装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CUDA Toolkit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97C5077-4BBD-C107-7BAE-F1DB76E12E20}"/>
              </a:ext>
            </a:extLst>
          </p:cNvPr>
          <p:cNvSpPr txBox="1"/>
          <p:nvPr/>
        </p:nvSpPr>
        <p:spPr>
          <a:xfrm>
            <a:off x="6594393" y="4289587"/>
            <a:ext cx="184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 管理软件</a:t>
            </a:r>
          </a:p>
        </p:txBody>
      </p:sp>
      <p:sp>
        <p:nvSpPr>
          <p:cNvPr id="36" name="Rounded Rectangle 3">
            <a:extLst>
              <a:ext uri="{FF2B5EF4-FFF2-40B4-BE49-F238E27FC236}">
                <a16:creationId xmlns:a16="http://schemas.microsoft.com/office/drawing/2014/main" id="{8E94F57D-4B23-8796-F9D2-832C8B4A9600}"/>
              </a:ext>
            </a:extLst>
          </p:cNvPr>
          <p:cNvSpPr/>
          <p:nvPr/>
        </p:nvSpPr>
        <p:spPr>
          <a:xfrm>
            <a:off x="548640" y="4141222"/>
            <a:ext cx="5303520" cy="2103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94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6">
            <a:extLst>
              <a:ext uri="{FF2B5EF4-FFF2-40B4-BE49-F238E27FC236}">
                <a16:creationId xmlns:a16="http://schemas.microsoft.com/office/drawing/2014/main" id="{3E65BE25-D769-F763-033D-F3B2931A2A44}"/>
              </a:ext>
            </a:extLst>
          </p:cNvPr>
          <p:cNvSpPr txBox="1"/>
          <p:nvPr/>
        </p:nvSpPr>
        <p:spPr>
          <a:xfrm>
            <a:off x="658368" y="4722532"/>
            <a:ext cx="5120640" cy="95474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600" dirty="0"/>
              <a:t>Windows 10/11 + NVIDIA GPU</a:t>
            </a:r>
          </a:p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600" dirty="0" err="1"/>
              <a:t>Cuda</a:t>
            </a:r>
            <a:r>
              <a:rPr lang="en-US" altLang="zh-CN" sz="1600" dirty="0"/>
              <a:t> 11.3+</a:t>
            </a:r>
            <a:br>
              <a:rPr lang="en-US" altLang="zh-CN" sz="1600" dirty="0"/>
            </a:br>
            <a:r>
              <a:rPr lang="en-US" altLang="zh-CN" sz="1600" dirty="0"/>
              <a:t>or Linux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B9930B0-E1CE-DCC7-F76B-8E47D8CE3E08}"/>
              </a:ext>
            </a:extLst>
          </p:cNvPr>
          <p:cNvSpPr txBox="1"/>
          <p:nvPr/>
        </p:nvSpPr>
        <p:spPr>
          <a:xfrm>
            <a:off x="730039" y="4289587"/>
            <a:ext cx="184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硬件要求</a:t>
            </a:r>
          </a:p>
        </p:txBody>
      </p:sp>
    </p:spTree>
    <p:extLst>
      <p:ext uri="{BB962C8B-B14F-4D97-AF65-F5344CB8AC3E}">
        <p14:creationId xmlns:p14="http://schemas.microsoft.com/office/powerpoint/2010/main" val="272153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0</a:t>
            </a:r>
            <a:r>
              <a:rPr lang="en-US" sz="2000" b="1" dirty="0"/>
              <a:t>2</a:t>
            </a:r>
            <a:endParaRPr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3200" b="1" dirty="0"/>
              <a:t>🔧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创建环境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CCBDB9DF-9C6C-EF70-18D5-C7FA74BC5FFB}"/>
              </a:ext>
            </a:extLst>
          </p:cNvPr>
          <p:cNvSpPr/>
          <p:nvPr/>
        </p:nvSpPr>
        <p:spPr>
          <a:xfrm>
            <a:off x="548640" y="1904786"/>
            <a:ext cx="594360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在 Anaconda Prompt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中执行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conda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create -n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wham_gmr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python=3.10 -y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conda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activate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wham_gmr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安装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1.11 (CUDA 11.3)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conda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install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==1.11.0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==0.12.0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torchaudio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==0.11.0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cudatoolkit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=11.3 -c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-y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验证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GPU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可用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python -c "import torch; print(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torch.cuda.is_available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())"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期望输出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: True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6CA7ED73-31D6-6BF6-8439-95828009D9CA}"/>
              </a:ext>
            </a:extLst>
          </p:cNvPr>
          <p:cNvSpPr/>
          <p:nvPr/>
        </p:nvSpPr>
        <p:spPr>
          <a:xfrm>
            <a:off x="6766560" y="1531298"/>
            <a:ext cx="4754880" cy="1804330"/>
          </a:xfrm>
          <a:prstGeom prst="roundRect">
            <a:avLst/>
          </a:prstGeom>
          <a:solidFill>
            <a:srgbClr val="FF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BEDBE-B53B-08FB-265E-6986908FA865}"/>
              </a:ext>
            </a:extLst>
          </p:cNvPr>
          <p:cNvSpPr txBox="1"/>
          <p:nvPr/>
        </p:nvSpPr>
        <p:spPr>
          <a:xfrm>
            <a:off x="6876288" y="1641026"/>
            <a:ext cx="2532745" cy="310341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rPr sz="1850" b="1"/>
              <a:t>⚠️ 关键：降级 numpy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1F9CDDA-4B85-2B0B-60B1-6504B8D4DF3D}"/>
              </a:ext>
            </a:extLst>
          </p:cNvPr>
          <p:cNvSpPr txBox="1"/>
          <p:nvPr/>
        </p:nvSpPr>
        <p:spPr>
          <a:xfrm>
            <a:off x="6876288" y="1915346"/>
            <a:ext cx="4572000" cy="127483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sz="1600" dirty="0" err="1"/>
              <a:t>conda</a:t>
            </a:r>
            <a:r>
              <a:rPr sz="1600" dirty="0"/>
              <a:t> </a:t>
            </a:r>
            <a:r>
              <a:rPr sz="1600" dirty="0" err="1"/>
              <a:t>默认装</a:t>
            </a:r>
            <a:r>
              <a:rPr sz="1600" dirty="0"/>
              <a:t> </a:t>
            </a:r>
            <a:r>
              <a:rPr sz="1600" dirty="0" err="1"/>
              <a:t>numpy</a:t>
            </a:r>
            <a:r>
              <a:rPr sz="1600" dirty="0"/>
              <a:t> 2.x</a:t>
            </a:r>
            <a:br>
              <a:rPr sz="1600" dirty="0"/>
            </a:br>
            <a:r>
              <a:rPr sz="1600" dirty="0"/>
              <a:t>但 torch 1.11 </a:t>
            </a:r>
            <a:r>
              <a:rPr sz="1600" dirty="0" err="1"/>
              <a:t>与之</a:t>
            </a:r>
            <a:r>
              <a:rPr lang="en-US" altLang="zh-CN" sz="1600" dirty="0" err="1"/>
              <a:t>api</a:t>
            </a:r>
            <a:r>
              <a:rPr sz="1600" dirty="0" err="1"/>
              <a:t>不兼容</a:t>
            </a:r>
            <a:br>
              <a:rPr sz="1600" dirty="0"/>
            </a:br>
            <a:r>
              <a:rPr sz="1600" dirty="0" err="1"/>
              <a:t>运行时会崩溃</a:t>
            </a:r>
            <a:r>
              <a:rPr sz="1600" dirty="0"/>
              <a:t>！</a:t>
            </a:r>
            <a:br>
              <a:rPr sz="1600" dirty="0"/>
            </a:br>
            <a:r>
              <a:rPr sz="1600" dirty="0"/>
              <a:t>pip install </a:t>
            </a:r>
            <a:r>
              <a:rPr sz="1600" dirty="0" err="1"/>
              <a:t>numpy</a:t>
            </a:r>
            <a:r>
              <a:rPr sz="1600" dirty="0"/>
              <a:t>==1.22.3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D4EFB828-C803-60D6-C5EA-40EDD7A968F3}"/>
              </a:ext>
            </a:extLst>
          </p:cNvPr>
          <p:cNvSpPr/>
          <p:nvPr/>
        </p:nvSpPr>
        <p:spPr>
          <a:xfrm>
            <a:off x="6766560" y="3642146"/>
            <a:ext cx="4754880" cy="1463040"/>
          </a:xfrm>
          <a:prstGeom prst="roundRect">
            <a:avLst/>
          </a:prstGeom>
          <a:solidFill>
            <a:srgbClr val="B0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1D232-CF1F-1EB3-3366-8E05EE7AC9EF}"/>
              </a:ext>
            </a:extLst>
          </p:cNvPr>
          <p:cNvSpPr txBox="1"/>
          <p:nvPr/>
        </p:nvSpPr>
        <p:spPr>
          <a:xfrm>
            <a:off x="6876288" y="3751874"/>
            <a:ext cx="1864293" cy="310341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rPr sz="1850" b="1" dirty="0"/>
              <a:t>💡 </a:t>
            </a:r>
            <a:r>
              <a:rPr sz="1850" b="1" dirty="0" err="1"/>
              <a:t>跳过模块说明</a:t>
            </a:r>
            <a:endParaRPr sz="185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24A823-A7A3-402B-8D08-1A30F76A1B0B}"/>
              </a:ext>
            </a:extLst>
          </p:cNvPr>
          <p:cNvSpPr txBox="1"/>
          <p:nvPr/>
        </p:nvSpPr>
        <p:spPr>
          <a:xfrm>
            <a:off x="6876288" y="4026194"/>
            <a:ext cx="4572000" cy="9589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sz="1600" dirty="0"/>
              <a:t>pytorch3d：仅 3D </a:t>
            </a:r>
            <a:r>
              <a:rPr sz="1600" dirty="0" err="1"/>
              <a:t>可视化窗口</a:t>
            </a:r>
            <a:br>
              <a:rPr sz="1600" dirty="0"/>
            </a:br>
            <a:r>
              <a:rPr sz="1600" dirty="0" err="1"/>
              <a:t>DPVO：仅全局</a:t>
            </a:r>
            <a:r>
              <a:rPr sz="1600" dirty="0"/>
              <a:t> SLAM</a:t>
            </a:r>
            <a:br>
              <a:rPr sz="1600" dirty="0"/>
            </a:br>
            <a:r>
              <a:rPr sz="1600" dirty="0" err="1"/>
              <a:t>不装不影响核心输出</a:t>
            </a:r>
            <a:r>
              <a:rPr sz="1600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8340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0</a:t>
            </a:r>
            <a:r>
              <a:rPr lang="en-US" sz="2000" b="1" dirty="0"/>
              <a:t>3</a:t>
            </a:r>
            <a:endParaRPr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📋 安装 </a:t>
            </a: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mmcv &amp; WHAM 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依赖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7353FAB-6EEE-0C09-B4F9-154935E1CD14}"/>
              </a:ext>
            </a:extLst>
          </p:cNvPr>
          <p:cNvSpPr/>
          <p:nvPr/>
        </p:nvSpPr>
        <p:spPr>
          <a:xfrm>
            <a:off x="766292" y="2021982"/>
            <a:ext cx="3387145" cy="2595094"/>
          </a:xfrm>
          <a:prstGeom prst="roundRect">
            <a:avLst/>
          </a:prstGeom>
          <a:solidFill>
            <a:srgbClr val="FF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setuptools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mmcv 1.5.0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WHAM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ViTPose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9A8CB88A-7AF3-9A5B-18D0-EFC57FDDC534}"/>
              </a:ext>
            </a:extLst>
          </p:cNvPr>
          <p:cNvSpPr/>
          <p:nvPr/>
        </p:nvSpPr>
        <p:spPr>
          <a:xfrm>
            <a:off x="5391956" y="2021982"/>
            <a:ext cx="5943600" cy="2595094"/>
          </a:xfrm>
          <a:prstGeom prst="roundRect">
            <a:avLst>
              <a:gd name="adj" fmla="val 12039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setuptools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==59.5.0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pip install https://download.openmmlab.com/...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 /mmcv_full-1.5.0-cp310-cp310-win_amd64.whl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pip install -r requirements.txt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pip install --no-build-isolation chumpy==0.70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-tricks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pip install -v -e third-party/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ViTPose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623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0</a:t>
            </a:r>
            <a:r>
              <a:rPr lang="en-US" sz="2000" b="1" dirty="0"/>
              <a:t>4</a:t>
            </a:r>
            <a:endParaRPr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⚙️ GMR 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安装与 </a:t>
            </a: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setup.py 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修正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B4D18A8C-1A3A-917A-0130-2E4FFC3149A5}"/>
              </a:ext>
            </a:extLst>
          </p:cNvPr>
          <p:cNvSpPr/>
          <p:nvPr/>
        </p:nvSpPr>
        <p:spPr>
          <a:xfrm>
            <a:off x="548640" y="1634329"/>
            <a:ext cx="5303520" cy="2602820"/>
          </a:xfrm>
          <a:prstGeom prst="roundRect">
            <a:avLst/>
          </a:prstGeom>
          <a:solidFill>
            <a:srgbClr val="FFF5F5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E1B6C181-52DB-9D4F-C6D9-BBAA43A83AE1}"/>
              </a:ext>
            </a:extLst>
          </p:cNvPr>
          <p:cNvSpPr txBox="1"/>
          <p:nvPr/>
        </p:nvSpPr>
        <p:spPr>
          <a:xfrm>
            <a:off x="658368" y="1744057"/>
            <a:ext cx="3694922" cy="333425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rPr sz="2000" b="1" dirty="0"/>
              <a:t>⚠️ </a:t>
            </a:r>
            <a:r>
              <a:rPr sz="2000" b="1" dirty="0" err="1"/>
              <a:t>修改</a:t>
            </a:r>
            <a:r>
              <a:rPr sz="2000" b="1" dirty="0"/>
              <a:t> </a:t>
            </a:r>
            <a:r>
              <a:rPr sz="2000" b="1" dirty="0" err="1"/>
              <a:t>setup.py（两处必改</a:t>
            </a:r>
            <a:r>
              <a:rPr sz="1850" b="1" dirty="0"/>
              <a:t>）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1BFD0BC-6953-AED0-3132-86BA26B021AA}"/>
              </a:ext>
            </a:extLst>
          </p:cNvPr>
          <p:cNvSpPr txBox="1"/>
          <p:nvPr/>
        </p:nvSpPr>
        <p:spPr>
          <a:xfrm>
            <a:off x="658368" y="2210879"/>
            <a:ext cx="5120640" cy="159492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sz="1600" dirty="0"/>
              <a:t>① </a:t>
            </a:r>
            <a:r>
              <a:rPr sz="1600" dirty="0" err="1"/>
              <a:t>修复编码（避免</a:t>
            </a:r>
            <a:r>
              <a:rPr sz="1600" dirty="0"/>
              <a:t> GBK </a:t>
            </a:r>
            <a:r>
              <a:rPr sz="1600" dirty="0" err="1"/>
              <a:t>错误</a:t>
            </a:r>
            <a:r>
              <a:rPr sz="1600" dirty="0"/>
              <a:t>）</a:t>
            </a:r>
            <a:br>
              <a:rPr sz="1600" dirty="0"/>
            </a:br>
            <a:r>
              <a:rPr sz="1600" dirty="0"/>
              <a:t>open("README.md", encoding="utf-8").read()</a:t>
            </a:r>
            <a:br>
              <a:rPr sz="1600" dirty="0"/>
            </a:br>
            <a:br>
              <a:rPr sz="1600" dirty="0"/>
            </a:br>
            <a:r>
              <a:rPr sz="1600" dirty="0"/>
              <a:t>② </a:t>
            </a:r>
            <a:r>
              <a:rPr sz="1600" dirty="0" err="1"/>
              <a:t>去掉</a:t>
            </a:r>
            <a:r>
              <a:rPr sz="1600" dirty="0"/>
              <a:t> </a:t>
            </a:r>
            <a:r>
              <a:rPr sz="1600" dirty="0" err="1"/>
              <a:t>proxqp</a:t>
            </a:r>
            <a:r>
              <a:rPr sz="1600" dirty="0"/>
              <a:t> </a:t>
            </a:r>
            <a:r>
              <a:rPr sz="1600" dirty="0" err="1"/>
              <a:t>依赖（无</a:t>
            </a:r>
            <a:r>
              <a:rPr sz="1600" dirty="0"/>
              <a:t> VS </a:t>
            </a:r>
            <a:r>
              <a:rPr sz="1600" dirty="0" err="1"/>
              <a:t>编译必失败</a:t>
            </a:r>
            <a:r>
              <a:rPr sz="1600" dirty="0"/>
              <a:t>）</a:t>
            </a:r>
            <a:br>
              <a:rPr sz="1600" dirty="0"/>
            </a:br>
            <a:r>
              <a:rPr sz="1600" dirty="0"/>
              <a:t>"</a:t>
            </a:r>
            <a:r>
              <a:rPr sz="1600" dirty="0" err="1"/>
              <a:t>qpsolvers</a:t>
            </a:r>
            <a:r>
              <a:rPr sz="1600" dirty="0"/>
              <a:t>" ← </a:t>
            </a:r>
            <a:r>
              <a:rPr sz="1600" dirty="0" err="1"/>
              <a:t>去掉</a:t>
            </a:r>
            <a:r>
              <a:rPr sz="1600" dirty="0"/>
              <a:t> [</a:t>
            </a:r>
            <a:r>
              <a:rPr sz="1600" dirty="0" err="1"/>
              <a:t>proxqp</a:t>
            </a:r>
            <a:r>
              <a:rPr sz="1600" dirty="0"/>
              <a:t>]</a:t>
            </a: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97111E82-0D03-1EAA-6355-31F59792F24C}"/>
              </a:ext>
            </a:extLst>
          </p:cNvPr>
          <p:cNvSpPr/>
          <p:nvPr/>
        </p:nvSpPr>
        <p:spPr>
          <a:xfrm>
            <a:off x="548640" y="5365926"/>
            <a:ext cx="11064240" cy="731520"/>
          </a:xfrm>
          <a:prstGeom prst="roundRect">
            <a:avLst>
              <a:gd name="adj" fmla="val 5223"/>
            </a:avLst>
          </a:prstGeom>
          <a:solidFill>
            <a:srgbClr val="F6FFF6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F50A69C2-E638-95F1-1293-D2BD0E523817}"/>
              </a:ext>
            </a:extLst>
          </p:cNvPr>
          <p:cNvSpPr/>
          <p:nvPr/>
        </p:nvSpPr>
        <p:spPr>
          <a:xfrm>
            <a:off x="548640" y="5365926"/>
            <a:ext cx="36576" cy="7315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E7673E74-0F5A-CB5B-9493-B737778257B6}"/>
              </a:ext>
            </a:extLst>
          </p:cNvPr>
          <p:cNvSpPr txBox="1"/>
          <p:nvPr/>
        </p:nvSpPr>
        <p:spPr>
          <a:xfrm>
            <a:off x="658368" y="5594803"/>
            <a:ext cx="2422138" cy="310341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rPr sz="1850" b="1" dirty="0"/>
              <a:t>✅ </a:t>
            </a:r>
            <a:r>
              <a:rPr sz="1850" b="1" dirty="0" err="1"/>
              <a:t>核心链路安装完成</a:t>
            </a:r>
            <a:r>
              <a:rPr lang="en-US" sz="1850" b="1" dirty="0"/>
              <a:t>!</a:t>
            </a:r>
            <a:endParaRPr sz="1850" b="1" dirty="0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9C5B3E77-82B9-3536-40BC-D5F417E45679}"/>
              </a:ext>
            </a:extLst>
          </p:cNvPr>
          <p:cNvSpPr txBox="1"/>
          <p:nvPr/>
        </p:nvSpPr>
        <p:spPr>
          <a:xfrm>
            <a:off x="658368" y="5749974"/>
            <a:ext cx="10881360" cy="35965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endParaRPr sz="1850" b="1" dirty="0"/>
          </a:p>
        </p:txBody>
      </p:sp>
    </p:spTree>
    <p:extLst>
      <p:ext uri="{BB962C8B-B14F-4D97-AF65-F5344CB8AC3E}">
        <p14:creationId xmlns:p14="http://schemas.microsoft.com/office/powerpoint/2010/main" val="377738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0</a:t>
            </a:r>
            <a:r>
              <a:rPr lang="en-US" sz="2000" b="1" dirty="0"/>
              <a:t>5</a:t>
            </a:r>
            <a:endParaRPr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✅ 环境验证</a:t>
            </a:r>
            <a:endParaRPr lang="zh-CN" altLang="en-US" sz="3300" b="1" dirty="0"/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47FF52EB-83E8-10A8-713C-8D5B21972ED7}"/>
              </a:ext>
            </a:extLst>
          </p:cNvPr>
          <p:cNvSpPr/>
          <p:nvPr/>
        </p:nvSpPr>
        <p:spPr>
          <a:xfrm>
            <a:off x="716065" y="1608571"/>
            <a:ext cx="6858000" cy="34747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逐条执行，每条都应正常输出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python -c "import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; assert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.__version__=='1.22.3'; print('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OK')"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python -c "import torch; print('CUDA:',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torch.cuda.is_available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())"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python -c "import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smplx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; print('SMPL-X OK')"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python -c "import cv2; print('OpenCV:', cv2.__version__)"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python -c "import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mujoco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; print('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MuJoCo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OK')"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python -c "import mink; print('mink IK OK')"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python -c "from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general_motion_retargeting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GeneralMotionRetargeting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; print('GMR OK')"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xrobotoolkit_sdk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not found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是无害警告，可忽略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DDF840-04C2-486C-46F1-7401EC6ABEA1}"/>
              </a:ext>
            </a:extLst>
          </p:cNvPr>
          <p:cNvSpPr/>
          <p:nvPr/>
        </p:nvSpPr>
        <p:spPr>
          <a:xfrm>
            <a:off x="7939824" y="1674254"/>
            <a:ext cx="3767071" cy="36318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验证标准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都输出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ok!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常见问题速查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2.x →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强制降级</a:t>
            </a:r>
            <a:b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mmcv 1.7.1 →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重装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1.5.0</a:t>
            </a:r>
            <a:b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proxsuite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编译失败 → 用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daqp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B67E700-4791-CECD-94F4-EEEF7CFB6B86}"/>
              </a:ext>
            </a:extLst>
          </p:cNvPr>
          <p:cNvCxnSpPr>
            <a:cxnSpLocks/>
          </p:cNvCxnSpPr>
          <p:nvPr/>
        </p:nvCxnSpPr>
        <p:spPr>
          <a:xfrm>
            <a:off x="8062173" y="2453426"/>
            <a:ext cx="1101144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9334D83-AAE6-0F5C-B88B-D78F919D03CD}"/>
              </a:ext>
            </a:extLst>
          </p:cNvPr>
          <p:cNvCxnSpPr>
            <a:cxnSpLocks/>
          </p:cNvCxnSpPr>
          <p:nvPr/>
        </p:nvCxnSpPr>
        <p:spPr>
          <a:xfrm>
            <a:off x="8062173" y="3390364"/>
            <a:ext cx="14424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383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0</a:t>
            </a:r>
            <a:r>
              <a:rPr lang="en-US" sz="2000" b="1" dirty="0"/>
              <a:t>6</a:t>
            </a:r>
            <a:endParaRPr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🚀 首次运行：默认机器人 </a:t>
            </a: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unitree_g1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2B326AA4-244C-E0A5-995D-9C2CF225073D}"/>
              </a:ext>
            </a:extLst>
          </p:cNvPr>
          <p:cNvSpPr/>
          <p:nvPr/>
        </p:nvSpPr>
        <p:spPr>
          <a:xfrm>
            <a:off x="548640" y="1576374"/>
            <a:ext cx="5303520" cy="2396758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@echo off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call D:\anaconda\Scripts\activate.bat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wham_gmr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OUTPUT_ROOT=output/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test_run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ROBOT=unitree_g1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RECORD_GMRVIDEO=1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VIDEO=examples/dataset_video.mp4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powershell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ExecutionPolicy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Bypass -File run.ps1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416F35-1166-A60A-2C9F-3324C8AA1F1D}"/>
              </a:ext>
            </a:extLst>
          </p:cNvPr>
          <p:cNvSpPr/>
          <p:nvPr/>
        </p:nvSpPr>
        <p:spPr>
          <a:xfrm>
            <a:off x="548640" y="4223626"/>
            <a:ext cx="53035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l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rPr sz="1850" b="1" dirty="0"/>
              <a:t> </a:t>
            </a:r>
            <a:r>
              <a:rPr sz="2000" b="1" dirty="0" err="1"/>
              <a:t>预期输出文件</a:t>
            </a:r>
            <a:endParaRPr sz="185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A6AB48-5693-7CB6-CC7C-476637F6DD8C}"/>
              </a:ext>
            </a:extLst>
          </p:cNvPr>
          <p:cNvSpPr/>
          <p:nvPr/>
        </p:nvSpPr>
        <p:spPr>
          <a:xfrm>
            <a:off x="548640" y="4732986"/>
            <a:ext cx="530352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l">
              <a:defRPr sz="1000" b="0">
                <a:solidFill>
                  <a:srgbClr val="555555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output/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test_run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b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├──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pkl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my_motion.pkl</a:t>
            </a:r>
            <a:b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├── csv/live_motion.csv </a:t>
            </a:r>
            <a:b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└── video/live_stream_robot.mp4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67D7F2-21D2-4D0E-BD8F-32EB1A2FA661}"/>
              </a:ext>
            </a:extLst>
          </p:cNvPr>
          <p:cNvSpPr/>
          <p:nvPr/>
        </p:nvSpPr>
        <p:spPr>
          <a:xfrm rot="2919492">
            <a:off x="286381" y="4251141"/>
            <a:ext cx="217522" cy="217522"/>
          </a:xfrm>
          <a:prstGeom prst="rect">
            <a:avLst/>
          </a:prstGeom>
          <a:solidFill>
            <a:srgbClr val="946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live_stream_robot">
            <a:hlinkClick r:id="" action="ppaction://media"/>
            <a:extLst>
              <a:ext uri="{FF2B5EF4-FFF2-40B4-BE49-F238E27FC236}">
                <a16:creationId xmlns:a16="http://schemas.microsoft.com/office/drawing/2014/main" id="{126D9761-AD2D-A0B0-2763-D3ABE47E48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55358" y="1473095"/>
            <a:ext cx="2667089" cy="47736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110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0</a:t>
            </a:r>
            <a:r>
              <a:rPr lang="en-US" sz="2000" b="1" dirty="0"/>
              <a:t>7</a:t>
            </a:r>
            <a:endParaRPr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🔗 灵龙 </a:t>
            </a: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URDF → MJCF 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转换</a:t>
            </a:r>
          </a:p>
        </p:txBody>
      </p:sp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391EEE74-3647-DC64-9228-ECE009DE13E3}"/>
              </a:ext>
            </a:extLst>
          </p:cNvPr>
          <p:cNvSpPr/>
          <p:nvPr/>
        </p:nvSpPr>
        <p:spPr>
          <a:xfrm>
            <a:off x="394093" y="3689797"/>
            <a:ext cx="5303520" cy="22370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mujoco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1.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去掉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meshdir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避免双前缀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urdf_text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urdf_text.replace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('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meshdir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="meshes/"', '')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2.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MuJoCo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解析并保存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mujoco.MjModel.from_xml_path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tmp_path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mujoco.mj_saveLastXML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out_path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, model)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期望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: nq=30, nu=30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51BA32-FEE7-9926-1C35-FF9684203A9D}"/>
              </a:ext>
            </a:extLst>
          </p:cNvPr>
          <p:cNvSpPr/>
          <p:nvPr/>
        </p:nvSpPr>
        <p:spPr>
          <a:xfrm>
            <a:off x="495836" y="1490957"/>
            <a:ext cx="5027912" cy="1828800"/>
          </a:xfrm>
          <a:prstGeom prst="rect">
            <a:avLst/>
          </a:prstGeom>
          <a:solidFill>
            <a:srgbClr val="FF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719722-C940-B062-B7B2-45651C90CD5E}"/>
              </a:ext>
            </a:extLst>
          </p:cNvPr>
          <p:cNvSpPr txBox="1"/>
          <p:nvPr/>
        </p:nvSpPr>
        <p:spPr>
          <a:xfrm>
            <a:off x="495836" y="1690251"/>
            <a:ext cx="6094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为什么不能直接用官方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URDF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50A2F3-DF7B-039C-AF26-738BAA23005C}"/>
              </a:ext>
            </a:extLst>
          </p:cNvPr>
          <p:cNvSpPr txBox="1"/>
          <p:nvPr/>
        </p:nvSpPr>
        <p:spPr>
          <a:xfrm>
            <a:off x="495836" y="2166368"/>
            <a:ext cx="4681252" cy="1021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没有浮动基座 →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nq=30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GMR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nq=37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yaw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关节缺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 →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MuJoCo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解析崩溃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meshdir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 →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meshes/meshes/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双前缀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93ECC4E-E860-6CD6-99EB-0A23817FB13E}"/>
              </a:ext>
            </a:extLst>
          </p:cNvPr>
          <p:cNvSpPr txBox="1"/>
          <p:nvPr/>
        </p:nvSpPr>
        <p:spPr>
          <a:xfrm>
            <a:off x="6388912" y="1756936"/>
            <a:ext cx="1925207" cy="333425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Microsoft YaHei"/>
              </a:defRPr>
            </a:pPr>
            <a:r>
              <a:rPr sz="1850" b="1" dirty="0"/>
              <a:t> </a:t>
            </a:r>
            <a:r>
              <a:rPr sz="2000" b="1" dirty="0" err="1"/>
              <a:t>手工修正</a:t>
            </a:r>
            <a:r>
              <a:rPr sz="2000" b="1" dirty="0"/>
              <a:t> MJCF</a:t>
            </a:r>
            <a:endParaRPr sz="1850" b="1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F028A4-1AAD-3442-8118-2BB9F378D714}"/>
              </a:ext>
            </a:extLst>
          </p:cNvPr>
          <p:cNvSpPr txBox="1"/>
          <p:nvPr/>
        </p:nvSpPr>
        <p:spPr>
          <a:xfrm>
            <a:off x="6388912" y="2390818"/>
            <a:ext cx="5120640" cy="293683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050">
                <a:solidFill>
                  <a:srgbClr val="555555"/>
                </a:solidFill>
                <a:latin typeface="Microsoft YaHei"/>
              </a:defRPr>
            </a:pPr>
            <a:r>
              <a:rPr sz="1600" dirty="0"/>
              <a:t>① </a:t>
            </a:r>
            <a:r>
              <a:rPr sz="1600" dirty="0" err="1"/>
              <a:t>补浮动基座</a:t>
            </a:r>
            <a:br>
              <a:rPr sz="1600" dirty="0"/>
            </a:br>
            <a:r>
              <a:rPr sz="1600" dirty="0"/>
              <a:t>&lt;</a:t>
            </a:r>
            <a:r>
              <a:rPr sz="1600" dirty="0" err="1"/>
              <a:t>freejoint</a:t>
            </a:r>
            <a:r>
              <a:rPr sz="1600" dirty="0"/>
              <a:t> name="</a:t>
            </a:r>
            <a:r>
              <a:rPr sz="1600" dirty="0" err="1"/>
              <a:t>base_free</a:t>
            </a:r>
            <a:r>
              <a:rPr sz="1600" dirty="0"/>
              <a:t>"/&gt;</a:t>
            </a:r>
            <a:br>
              <a:rPr sz="1600" dirty="0"/>
            </a:br>
            <a:r>
              <a:rPr sz="1600" dirty="0"/>
              <a:t>nq: 30 → 37 </a:t>
            </a:r>
            <a:br>
              <a:rPr sz="1600" dirty="0"/>
            </a:br>
            <a:r>
              <a:rPr sz="1600" dirty="0"/>
              <a:t>② 补 6 个 yaw 轴</a:t>
            </a:r>
            <a:br>
              <a:rPr sz="1600" dirty="0"/>
            </a:br>
            <a:r>
              <a:rPr sz="1600" dirty="0" err="1"/>
              <a:t>waist_yaw</a:t>
            </a:r>
            <a:r>
              <a:rPr sz="1600" dirty="0"/>
              <a:t>, </a:t>
            </a:r>
            <a:r>
              <a:rPr sz="1600" dirty="0" err="1"/>
              <a:t>head_yaw</a:t>
            </a:r>
            <a:r>
              <a:rPr sz="1600" dirty="0"/>
              <a:t>, shoulder_yaw×2, wrist_yaw×2</a:t>
            </a:r>
            <a:br>
              <a:rPr sz="1600" dirty="0"/>
            </a:br>
            <a:r>
              <a:rPr sz="1600" dirty="0"/>
              <a:t>axis="0 0 1"</a:t>
            </a:r>
            <a:br>
              <a:rPr sz="1600" dirty="0"/>
            </a:br>
            <a:r>
              <a:rPr sz="1600" dirty="0"/>
              <a:t>③ </a:t>
            </a:r>
            <a:r>
              <a:rPr sz="1600" dirty="0" err="1"/>
              <a:t>创建</a:t>
            </a:r>
            <a:r>
              <a:rPr sz="1600" dirty="0"/>
              <a:t> scene.xml</a:t>
            </a:r>
            <a:br>
              <a:rPr sz="1600" dirty="0"/>
            </a:br>
            <a:r>
              <a:rPr sz="1600" dirty="0" err="1"/>
              <a:t>复制</a:t>
            </a:r>
            <a:r>
              <a:rPr sz="1600" dirty="0"/>
              <a:t> </a:t>
            </a:r>
            <a:r>
              <a:rPr sz="1600" dirty="0" err="1"/>
              <a:t>openloong</a:t>
            </a:r>
            <a:r>
              <a:rPr sz="1600" dirty="0"/>
              <a:t> </a:t>
            </a:r>
            <a:r>
              <a:rPr sz="1600" dirty="0" err="1"/>
              <a:t>模板，改</a:t>
            </a:r>
            <a:r>
              <a:rPr sz="1600" dirty="0"/>
              <a:t> include </a:t>
            </a:r>
            <a:r>
              <a:rPr sz="1600" dirty="0" err="1"/>
              <a:t>文件名</a:t>
            </a:r>
            <a:endParaRPr sz="16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EBD92F-B870-20E8-5D90-842E493F5472}"/>
              </a:ext>
            </a:extLst>
          </p:cNvPr>
          <p:cNvSpPr/>
          <p:nvPr/>
        </p:nvSpPr>
        <p:spPr>
          <a:xfrm>
            <a:off x="6176279" y="1500408"/>
            <a:ext cx="5621628" cy="43723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E03BEA3-1CB2-F03E-B6FA-26DBA9E7ADE3}"/>
              </a:ext>
            </a:extLst>
          </p:cNvPr>
          <p:cNvCxnSpPr>
            <a:cxnSpLocks/>
          </p:cNvCxnSpPr>
          <p:nvPr/>
        </p:nvCxnSpPr>
        <p:spPr>
          <a:xfrm>
            <a:off x="6388912" y="2150772"/>
            <a:ext cx="20209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49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0</a:t>
            </a:r>
            <a:r>
              <a:rPr lang="en-US" sz="2000" b="1" dirty="0"/>
              <a:t>8</a:t>
            </a:r>
            <a:endParaRPr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📝 </a:t>
            </a: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GMR 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系统注册 </a:t>
            </a: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&amp; IK 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映射配置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C8CE6D8-65A3-AA51-9BE5-A2E7934DB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818982"/>
              </p:ext>
            </p:extLst>
          </p:nvPr>
        </p:nvGraphicFramePr>
        <p:xfrm>
          <a:off x="782751" y="5011957"/>
          <a:ext cx="701540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4263">
                  <a:extLst>
                    <a:ext uri="{9D8B030D-6E8A-4147-A177-3AD203B41FA5}">
                      <a16:colId xmlns:a16="http://schemas.microsoft.com/office/drawing/2014/main" val="670064655"/>
                    </a:ext>
                  </a:extLst>
                </a:gridCol>
                <a:gridCol w="2725573">
                  <a:extLst>
                    <a:ext uri="{9D8B030D-6E8A-4147-A177-3AD203B41FA5}">
                      <a16:colId xmlns:a16="http://schemas.microsoft.com/office/drawing/2014/main" val="913955181"/>
                    </a:ext>
                  </a:extLst>
                </a:gridCol>
                <a:gridCol w="2725573">
                  <a:extLst>
                    <a:ext uri="{9D8B030D-6E8A-4147-A177-3AD203B41FA5}">
                      <a16:colId xmlns:a16="http://schemas.microsoft.com/office/drawing/2014/main" val="2113011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 b="0" dirty="0" err="1">
                          <a:solidFill>
                            <a:schemeClr val="tx1"/>
                          </a:solidFill>
                        </a:rPr>
                        <a:t>部位</a:t>
                      </a:r>
                      <a:endParaRPr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table1 pos/rot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 b="0">
                          <a:solidFill>
                            <a:schemeClr val="tx1"/>
                          </a:solidFill>
                        </a:rPr>
                        <a:t>table2 pos/rot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1495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根 pelvis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100 / 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100 / 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817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腿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rPr sz="1600" b="0" dirty="0" err="1">
                          <a:solidFill>
                            <a:schemeClr val="tx1"/>
                          </a:solidFill>
                        </a:rPr>
                        <a:t>位置主导</a:t>
                      </a:r>
                      <a:endParaRPr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rPr sz="1600" b="0" dirty="0" err="1">
                          <a:solidFill>
                            <a:schemeClr val="tx1"/>
                          </a:solidFill>
                        </a:rPr>
                        <a:t>位置主导</a:t>
                      </a:r>
                      <a:endParaRPr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8168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3946"/>
                          </a:solidFill>
                          <a:latin typeface="Microsoft YaHei"/>
                        </a:defRPr>
                      </a:pPr>
                      <a:r>
                        <a:rPr sz="1600" b="0">
                          <a:solidFill>
                            <a:schemeClr val="tx1"/>
                          </a:solidFill>
                        </a:rPr>
                        <a:t>手臂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3946"/>
                          </a:solidFill>
                          <a:latin typeface="Microsoft YaHei"/>
                        </a:defRPr>
                      </a:pP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0 / 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3946"/>
                          </a:solidFill>
                          <a:latin typeface="Microsoft YaHei"/>
                        </a:defRPr>
                      </a:pP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10 / 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2938265"/>
                  </a:ext>
                </a:extLst>
              </a:tr>
            </a:tbl>
          </a:graphicData>
        </a:graphic>
      </p:graphicFrame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C59C86A8-9DA2-BB97-498C-4F411A7F448D}"/>
              </a:ext>
            </a:extLst>
          </p:cNvPr>
          <p:cNvSpPr/>
          <p:nvPr/>
        </p:nvSpPr>
        <p:spPr>
          <a:xfrm>
            <a:off x="528678" y="1758346"/>
            <a:ext cx="6837394" cy="2781836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params.py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四处注册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ROBOT_XML_DICT["linglong2"] = "assets/LingLong2.0/scene.xml"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IK_CONFIG_DICT["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smplx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"]["linglong2"] = "smplx_to_linglong2.json"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ROBOT_BASE_DICT["linglong2"] = "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base_link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VIEWER_CAM_DISTANCE_DICT["linglong2"] = 3.0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预留脚陷地配置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GROUND_CLEARANCE_DICT = {"linglong2": 0.075}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458B8F2-7F4E-BF8F-4E64-A58455B6B7B6}"/>
              </a:ext>
            </a:extLst>
          </p:cNvPr>
          <p:cNvSpPr/>
          <p:nvPr/>
        </p:nvSpPr>
        <p:spPr>
          <a:xfrm>
            <a:off x="782751" y="4606000"/>
            <a:ext cx="53035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l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rPr sz="2000" b="1" dirty="0"/>
              <a:t>smplx_to_linglong2.json </a:t>
            </a:r>
            <a:r>
              <a:rPr sz="2000" b="1" dirty="0" err="1"/>
              <a:t>配置</a:t>
            </a:r>
            <a:endParaRPr sz="2000" b="1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80832B2-CA0D-9526-31C7-11E880E892A6}"/>
              </a:ext>
            </a:extLst>
          </p:cNvPr>
          <p:cNvSpPr/>
          <p:nvPr/>
        </p:nvSpPr>
        <p:spPr>
          <a:xfrm>
            <a:off x="782751" y="1374222"/>
            <a:ext cx="53035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l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2000" b="1" dirty="0"/>
              <a:t>系统注册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2159727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050386-20E2-B4FB-CDB3-0C5E757757FC}"/>
              </a:ext>
            </a:extLst>
          </p:cNvPr>
          <p:cNvSpPr/>
          <p:nvPr/>
        </p:nvSpPr>
        <p:spPr>
          <a:xfrm>
            <a:off x="548640" y="145511"/>
            <a:ext cx="3398735" cy="5360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defRPr sz="1000" b="1">
                <a:solidFill>
                  <a:srgbClr val="E63946"/>
                </a:solidFill>
                <a:latin typeface="Microsoft YaHei"/>
              </a:defRPr>
            </a:pPr>
            <a:r>
              <a:rPr sz="2000" b="1" dirty="0"/>
              <a:t>STEP </a:t>
            </a:r>
            <a:r>
              <a:rPr lang="en-US" sz="2000" b="1" dirty="0"/>
              <a:t>09</a:t>
            </a:r>
            <a:endParaRPr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灵龙 </a:t>
            </a:r>
            <a:r>
              <a:rPr kumimoji="0" lang="en-US" altLang="zh-CN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2.0 </a:t>
            </a: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完整链路运行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4BE06F0C-4FC3-3B53-4E07-8C2244914F57}"/>
              </a:ext>
            </a:extLst>
          </p:cNvPr>
          <p:cNvSpPr/>
          <p:nvPr/>
        </p:nvSpPr>
        <p:spPr>
          <a:xfrm>
            <a:off x="392059" y="1931831"/>
            <a:ext cx="5303520" cy="2878469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@echo off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call D:\anaconda\Scripts\activate.bat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wham_gmr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OUTPUT_ROOT=output/linglong2_run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ROBOT=linglong2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RECORD_GMRVIDEO=1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::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灵龙专用优化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GMR_MAX_ITER=20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set GMR_WORKER_QUEUE_SIZE=64</a:t>
            </a:r>
          </a:p>
          <a:p>
            <a:pPr>
              <a:spcAft>
                <a:spcPts val="200"/>
              </a:spcAft>
              <a:defRPr sz="900">
                <a:solidFill>
                  <a:srgbClr val="A6E3A1"/>
                </a:solidFill>
                <a:latin typeface="Consolas"/>
              </a:defRPr>
            </a:pP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powershell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ExecutionPolicy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Bypass -File run.ps1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46219B-B99D-E2D3-E064-2BFD875E6BD1}"/>
              </a:ext>
            </a:extLst>
          </p:cNvPr>
          <p:cNvSpPr/>
          <p:nvPr/>
        </p:nvSpPr>
        <p:spPr>
          <a:xfrm>
            <a:off x="782751" y="1374222"/>
            <a:ext cx="53035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l">
              <a:defRPr sz="12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2000" b="1" dirty="0"/>
              <a:t>建立相关脚本</a:t>
            </a:r>
            <a:endParaRPr sz="2000" b="1" dirty="0"/>
          </a:p>
        </p:txBody>
      </p:sp>
      <p:pic>
        <p:nvPicPr>
          <p:cNvPr id="9" name="live_stream_robot">
            <a:hlinkClick r:id="" action="ppaction://media"/>
            <a:extLst>
              <a:ext uri="{FF2B5EF4-FFF2-40B4-BE49-F238E27FC236}">
                <a16:creationId xmlns:a16="http://schemas.microsoft.com/office/drawing/2014/main" id="{F573236D-C37C-69A3-D2D8-35249B1C24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68065" y="822960"/>
            <a:ext cx="3114205" cy="55738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115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6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BAEF12C5-96CE-2524-9928-653118BE941E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33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</a:t>
            </a:r>
            <a:endParaRPr kumimoji="0" lang="zh-CN" altLang="en-US" sz="33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live_stream_robot">
            <a:hlinkClick r:id="" action="ppaction://media"/>
            <a:extLst>
              <a:ext uri="{FF2B5EF4-FFF2-40B4-BE49-F238E27FC236}">
                <a16:creationId xmlns:a16="http://schemas.microsoft.com/office/drawing/2014/main" id="{FA9FD92E-D956-AEBA-942A-67838D4535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16367" y="433364"/>
            <a:ext cx="3462494" cy="61972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09261CC-C35E-8E2D-6CF7-9CC96F905579}"/>
              </a:ext>
            </a:extLst>
          </p:cNvPr>
          <p:cNvSpPr txBox="1"/>
          <p:nvPr/>
        </p:nvSpPr>
        <p:spPr>
          <a:xfrm>
            <a:off x="548640" y="1674254"/>
            <a:ext cx="4158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机械人脚底陷入地面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6D3CD44-B9BD-CE64-2C6D-22F0A7D58513}"/>
              </a:ext>
            </a:extLst>
          </p:cNvPr>
          <p:cNvCxnSpPr/>
          <p:nvPr/>
        </p:nvCxnSpPr>
        <p:spPr>
          <a:xfrm>
            <a:off x="605307" y="2074364"/>
            <a:ext cx="271100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707E3B0-EBA1-95FB-9FA6-DA828691422C}"/>
              </a:ext>
            </a:extLst>
          </p:cNvPr>
          <p:cNvSpPr txBox="1"/>
          <p:nvPr/>
        </p:nvSpPr>
        <p:spPr>
          <a:xfrm>
            <a:off x="605307" y="2247364"/>
            <a:ext cx="5042080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贴地逻辑使用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ankle body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原点最低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但灵龙脚底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mesh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ankle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7cm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ankle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贴到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后，脚底实际在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z≈-0.07</a:t>
            </a:r>
            <a:br>
              <a:rPr lang="en-US" altLang="zh-CN" sz="1800" dirty="0"/>
            </a:b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86C7B9-EFEF-CC15-5469-9C6265F8F114}"/>
              </a:ext>
            </a:extLst>
          </p:cNvPr>
          <p:cNvSpPr txBox="1"/>
          <p:nvPr/>
        </p:nvSpPr>
        <p:spPr>
          <a:xfrm>
            <a:off x="605307" y="3779195"/>
            <a:ext cx="5042080" cy="879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把最低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body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帧抬到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z=+0.075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而非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z=0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脚底刚好落到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z≈0</a:t>
            </a:r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35057F5-D4B2-67A5-DDA6-1ED600A98CD0}"/>
              </a:ext>
            </a:extLst>
          </p:cNvPr>
          <p:cNvCxnSpPr>
            <a:cxnSpLocks/>
          </p:cNvCxnSpPr>
          <p:nvPr/>
        </p:nvCxnSpPr>
        <p:spPr>
          <a:xfrm>
            <a:off x="605307" y="3626269"/>
            <a:ext cx="441745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02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CECAE13-4867-AB7D-CA37-FB76382B4519}"/>
              </a:ext>
            </a:extLst>
          </p:cNvPr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1B2A"/>
                </a:solidFill>
                <a:latin typeface="Microsoft YaHei"/>
              </a:defRPr>
            </a:pPr>
            <a:r>
              <a:rPr lang="zh-CN" altLang="en-US" sz="33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提问环节</a:t>
            </a:r>
            <a:endParaRPr kumimoji="0" lang="zh-CN" altLang="en-US" sz="33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829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1070</Words>
  <Application>Microsoft Office PowerPoint</Application>
  <PresentationFormat>宽屏</PresentationFormat>
  <Paragraphs>126</Paragraphs>
  <Slides>11</Slides>
  <Notes>0</Notes>
  <HiddenSlides>0</HiddenSlides>
  <MMClips>3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Microsoft YaHei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中山大学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chenwengeng</dc:creator>
  <cp:lastModifiedBy>chenwengeng</cp:lastModifiedBy>
  <cp:revision>3</cp:revision>
  <dcterms:created xsi:type="dcterms:W3CDTF">2026-08-30T11:04:41Z</dcterms:created>
  <dcterms:modified xsi:type="dcterms:W3CDTF">2026-08-30T11:58:45Z</dcterms:modified>
</cp:coreProperties>
</file>